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70" r:id="rId7"/>
    <p:sldId id="260" r:id="rId8"/>
    <p:sldId id="262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3FF854-3835-45E6-9366-F919A960A7B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CD0E190-A082-4321-81CE-6B22DF3227CC}">
      <dgm:prSet phldrT="[Texte]"/>
      <dgm:spPr/>
      <dgm:t>
        <a:bodyPr/>
        <a:lstStyle/>
        <a:p>
          <a:r>
            <a: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Viabilité de l’entreprise</a:t>
          </a:r>
          <a:endParaRPr lang="fr-FR" dirty="0"/>
        </a:p>
      </dgm:t>
    </dgm:pt>
    <dgm:pt modelId="{B3338C8F-D8D5-4D21-AA44-98CE456823FD}" type="parTrans" cxnId="{501BBB88-D44D-4F0C-997F-E7B49862DD4E}">
      <dgm:prSet/>
      <dgm:spPr/>
      <dgm:t>
        <a:bodyPr/>
        <a:lstStyle/>
        <a:p>
          <a:endParaRPr lang="fr-FR"/>
        </a:p>
      </dgm:t>
    </dgm:pt>
    <dgm:pt modelId="{006ABD85-26A6-40BE-9A13-F3F73E4034CB}" type="sibTrans" cxnId="{501BBB88-D44D-4F0C-997F-E7B49862DD4E}">
      <dgm:prSet/>
      <dgm:spPr/>
      <dgm:t>
        <a:bodyPr/>
        <a:lstStyle/>
        <a:p>
          <a:endParaRPr lang="fr-FR"/>
        </a:p>
      </dgm:t>
    </dgm:pt>
    <dgm:pt modelId="{C020CCB1-D8CB-4BDF-BC5E-B8E992FF0B4A}">
      <dgm:prSet phldrT="[Texte]"/>
      <dgm:spPr/>
      <dgm:t>
        <a:bodyPr/>
        <a:lstStyle/>
        <a:p>
          <a:r>
            <a: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Compétitivité de l’entreprise</a:t>
          </a:r>
          <a:endParaRPr lang="fr-FR" dirty="0"/>
        </a:p>
      </dgm:t>
    </dgm:pt>
    <dgm:pt modelId="{B0F8F967-F4A7-4211-B117-7E59BFDE6901}" type="parTrans" cxnId="{202760F9-2849-4C2D-8523-4963F1CF5632}">
      <dgm:prSet/>
      <dgm:spPr/>
      <dgm:t>
        <a:bodyPr/>
        <a:lstStyle/>
        <a:p>
          <a:endParaRPr lang="fr-FR"/>
        </a:p>
      </dgm:t>
    </dgm:pt>
    <dgm:pt modelId="{F0349C78-8802-46E5-8116-B39EAF936535}" type="sibTrans" cxnId="{202760F9-2849-4C2D-8523-4963F1CF5632}">
      <dgm:prSet/>
      <dgm:spPr/>
      <dgm:t>
        <a:bodyPr/>
        <a:lstStyle/>
        <a:p>
          <a:endParaRPr lang="fr-FR"/>
        </a:p>
      </dgm:t>
    </dgm:pt>
    <dgm:pt modelId="{9348B831-C415-4416-82D1-E18812C7125A}">
      <dgm:prSet phldrT="[Texte]"/>
      <dgm:spPr/>
      <dgm:t>
        <a:bodyPr/>
        <a:lstStyle/>
        <a:p>
          <a:r>
            <a: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Potentialité du développement de l’entreprise</a:t>
          </a:r>
          <a:endParaRPr lang="fr-FR" dirty="0"/>
        </a:p>
      </dgm:t>
    </dgm:pt>
    <dgm:pt modelId="{BCD309CE-3A9F-4B9C-B4DC-8C1717CFF561}" type="parTrans" cxnId="{72816E24-F7B5-428F-B5B5-A4CC95717359}">
      <dgm:prSet/>
      <dgm:spPr/>
      <dgm:t>
        <a:bodyPr/>
        <a:lstStyle/>
        <a:p>
          <a:endParaRPr lang="fr-FR"/>
        </a:p>
      </dgm:t>
    </dgm:pt>
    <dgm:pt modelId="{5EDC804D-1699-4E67-914E-FB30D4FE35D8}" type="sibTrans" cxnId="{72816E24-F7B5-428F-B5B5-A4CC95717359}">
      <dgm:prSet/>
      <dgm:spPr/>
      <dgm:t>
        <a:bodyPr/>
        <a:lstStyle/>
        <a:p>
          <a:endParaRPr lang="fr-FR"/>
        </a:p>
      </dgm:t>
    </dgm:pt>
    <dgm:pt modelId="{2860AC32-697E-4B3D-8E02-9516C3558F88}">
      <dgm:prSet phldrT="[Texte]"/>
      <dgm:spPr/>
      <dgm:t>
        <a:bodyPr/>
        <a:lstStyle/>
        <a:p>
          <a:r>
            <a:rPr lang="en-US" b="1" dirty="0" err="1" smtClean="0">
              <a:solidFill>
                <a:schemeClr val="tx1"/>
              </a:solidFill>
            </a:rPr>
            <a:t>Maitriser</a:t>
          </a:r>
          <a:r>
            <a:rPr lang="en-US" b="1" dirty="0" smtClean="0">
              <a:solidFill>
                <a:schemeClr val="tx1"/>
              </a:solidFill>
            </a:rPr>
            <a:t> les </a:t>
          </a:r>
          <a:r>
            <a:rPr lang="en-US" b="1" dirty="0" err="1" smtClean="0">
              <a:solidFill>
                <a:schemeClr val="tx1"/>
              </a:solidFill>
            </a:rPr>
            <a:t>risques</a:t>
          </a:r>
          <a:endParaRPr lang="fr-FR" b="1" dirty="0">
            <a:solidFill>
              <a:schemeClr val="tx1"/>
            </a:solidFill>
          </a:endParaRPr>
        </a:p>
      </dgm:t>
    </dgm:pt>
    <dgm:pt modelId="{4C72B99D-9835-4464-92B4-C823B281996F}" type="parTrans" cxnId="{81E4D68B-99EE-4565-9769-7380F7249854}">
      <dgm:prSet/>
      <dgm:spPr/>
      <dgm:t>
        <a:bodyPr/>
        <a:lstStyle/>
        <a:p>
          <a:endParaRPr lang="fr-FR"/>
        </a:p>
      </dgm:t>
    </dgm:pt>
    <dgm:pt modelId="{B700BBF3-7C43-414A-ABEE-D1ED1C7F1350}" type="sibTrans" cxnId="{81E4D68B-99EE-4565-9769-7380F7249854}">
      <dgm:prSet/>
      <dgm:spPr/>
      <dgm:t>
        <a:bodyPr/>
        <a:lstStyle/>
        <a:p>
          <a:endParaRPr lang="fr-FR"/>
        </a:p>
      </dgm:t>
    </dgm:pt>
    <dgm:pt modelId="{08DFC445-348D-4C67-9E3D-23F2A09A6771}" type="pres">
      <dgm:prSet presAssocID="{4C3FF854-3835-45E6-9366-F919A960A7B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8E751990-F7DC-41AC-B9C5-EC48D8205E0B}" type="pres">
      <dgm:prSet presAssocID="{8CD0E190-A082-4321-81CE-6B22DF3227CC}" presName="node" presStyleLbl="node1" presStyleIdx="0" presStyleCnt="4" custLinFactNeighborX="13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E9B3FB-91CC-4190-894D-AD4BA3E8F2BA}" type="pres">
      <dgm:prSet presAssocID="{006ABD85-26A6-40BE-9A13-F3F73E4034CB}" presName="sibTrans" presStyleCnt="0"/>
      <dgm:spPr/>
    </dgm:pt>
    <dgm:pt modelId="{2C4DE359-9319-458F-8798-9CC1F7D716BA}" type="pres">
      <dgm:prSet presAssocID="{C020CCB1-D8CB-4BDF-BC5E-B8E992FF0B4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0A34FD0-6EAA-4996-BA16-FBABCCDFB755}" type="pres">
      <dgm:prSet presAssocID="{F0349C78-8802-46E5-8116-B39EAF936535}" presName="sibTrans" presStyleCnt="0"/>
      <dgm:spPr/>
    </dgm:pt>
    <dgm:pt modelId="{227456A6-6EE8-412C-A866-F947D635BD2E}" type="pres">
      <dgm:prSet presAssocID="{9348B831-C415-4416-82D1-E18812C7125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586D31C-A83F-4496-88B1-F11499CA2568}" type="pres">
      <dgm:prSet presAssocID="{5EDC804D-1699-4E67-914E-FB30D4FE35D8}" presName="sibTrans" presStyleCnt="0"/>
      <dgm:spPr/>
    </dgm:pt>
    <dgm:pt modelId="{7F381DBB-035D-4FF8-8C28-9A2CACCED55E}" type="pres">
      <dgm:prSet presAssocID="{2860AC32-697E-4B3D-8E02-9516C3558F8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7B3F32A-1E6E-4FBC-A48C-BB65A5258F08}" type="presOf" srcId="{8CD0E190-A082-4321-81CE-6B22DF3227CC}" destId="{8E751990-F7DC-41AC-B9C5-EC48D8205E0B}" srcOrd="0" destOrd="0" presId="urn:microsoft.com/office/officeart/2005/8/layout/default"/>
    <dgm:cxn modelId="{91CF30AB-EC8B-492A-AB5D-AF0994067ECB}" type="presOf" srcId="{2860AC32-697E-4B3D-8E02-9516C3558F88}" destId="{7F381DBB-035D-4FF8-8C28-9A2CACCED55E}" srcOrd="0" destOrd="0" presId="urn:microsoft.com/office/officeart/2005/8/layout/default"/>
    <dgm:cxn modelId="{72816E24-F7B5-428F-B5B5-A4CC95717359}" srcId="{4C3FF854-3835-45E6-9366-F919A960A7BE}" destId="{9348B831-C415-4416-82D1-E18812C7125A}" srcOrd="2" destOrd="0" parTransId="{BCD309CE-3A9F-4B9C-B4DC-8C1717CFF561}" sibTransId="{5EDC804D-1699-4E67-914E-FB30D4FE35D8}"/>
    <dgm:cxn modelId="{1A492FA0-E2E6-45BF-BBCD-0A52E1CF4C80}" type="presOf" srcId="{4C3FF854-3835-45E6-9366-F919A960A7BE}" destId="{08DFC445-348D-4C67-9E3D-23F2A09A6771}" srcOrd="0" destOrd="0" presId="urn:microsoft.com/office/officeart/2005/8/layout/default"/>
    <dgm:cxn modelId="{81E4D68B-99EE-4565-9769-7380F7249854}" srcId="{4C3FF854-3835-45E6-9366-F919A960A7BE}" destId="{2860AC32-697E-4B3D-8E02-9516C3558F88}" srcOrd="3" destOrd="0" parTransId="{4C72B99D-9835-4464-92B4-C823B281996F}" sibTransId="{B700BBF3-7C43-414A-ABEE-D1ED1C7F1350}"/>
    <dgm:cxn modelId="{4EEB32A7-021E-418B-B6F8-B10B776B2476}" type="presOf" srcId="{9348B831-C415-4416-82D1-E18812C7125A}" destId="{227456A6-6EE8-412C-A866-F947D635BD2E}" srcOrd="0" destOrd="0" presId="urn:microsoft.com/office/officeart/2005/8/layout/default"/>
    <dgm:cxn modelId="{202760F9-2849-4C2D-8523-4963F1CF5632}" srcId="{4C3FF854-3835-45E6-9366-F919A960A7BE}" destId="{C020CCB1-D8CB-4BDF-BC5E-B8E992FF0B4A}" srcOrd="1" destOrd="0" parTransId="{B0F8F967-F4A7-4211-B117-7E59BFDE6901}" sibTransId="{F0349C78-8802-46E5-8116-B39EAF936535}"/>
    <dgm:cxn modelId="{697150A7-584C-4B2E-B8D1-B66FF826A492}" type="presOf" srcId="{C020CCB1-D8CB-4BDF-BC5E-B8E992FF0B4A}" destId="{2C4DE359-9319-458F-8798-9CC1F7D716BA}" srcOrd="0" destOrd="0" presId="urn:microsoft.com/office/officeart/2005/8/layout/default"/>
    <dgm:cxn modelId="{501BBB88-D44D-4F0C-997F-E7B49862DD4E}" srcId="{4C3FF854-3835-45E6-9366-F919A960A7BE}" destId="{8CD0E190-A082-4321-81CE-6B22DF3227CC}" srcOrd="0" destOrd="0" parTransId="{B3338C8F-D8D5-4D21-AA44-98CE456823FD}" sibTransId="{006ABD85-26A6-40BE-9A13-F3F73E4034CB}"/>
    <dgm:cxn modelId="{11085323-BC20-418B-8BAC-1E88A6476365}" type="presParOf" srcId="{08DFC445-348D-4C67-9E3D-23F2A09A6771}" destId="{8E751990-F7DC-41AC-B9C5-EC48D8205E0B}" srcOrd="0" destOrd="0" presId="urn:microsoft.com/office/officeart/2005/8/layout/default"/>
    <dgm:cxn modelId="{E20D2905-D41C-41C7-9FFE-A4D1F8D3C684}" type="presParOf" srcId="{08DFC445-348D-4C67-9E3D-23F2A09A6771}" destId="{85E9B3FB-91CC-4190-894D-AD4BA3E8F2BA}" srcOrd="1" destOrd="0" presId="urn:microsoft.com/office/officeart/2005/8/layout/default"/>
    <dgm:cxn modelId="{84E739D0-C9C5-465D-9D4F-369578BA9732}" type="presParOf" srcId="{08DFC445-348D-4C67-9E3D-23F2A09A6771}" destId="{2C4DE359-9319-458F-8798-9CC1F7D716BA}" srcOrd="2" destOrd="0" presId="urn:microsoft.com/office/officeart/2005/8/layout/default"/>
    <dgm:cxn modelId="{DD80C413-54A2-44B3-93B6-500836545444}" type="presParOf" srcId="{08DFC445-348D-4C67-9E3D-23F2A09A6771}" destId="{D0A34FD0-6EAA-4996-BA16-FBABCCDFB755}" srcOrd="3" destOrd="0" presId="urn:microsoft.com/office/officeart/2005/8/layout/default"/>
    <dgm:cxn modelId="{8F89E5B5-1365-4B46-9220-49A681A47664}" type="presParOf" srcId="{08DFC445-348D-4C67-9E3D-23F2A09A6771}" destId="{227456A6-6EE8-412C-A866-F947D635BD2E}" srcOrd="4" destOrd="0" presId="urn:microsoft.com/office/officeart/2005/8/layout/default"/>
    <dgm:cxn modelId="{BE4C1F92-660C-4AD2-8BFF-7E36A1C56840}" type="presParOf" srcId="{08DFC445-348D-4C67-9E3D-23F2A09A6771}" destId="{6586D31C-A83F-4496-88B1-F11499CA2568}" srcOrd="5" destOrd="0" presId="urn:microsoft.com/office/officeart/2005/8/layout/default"/>
    <dgm:cxn modelId="{E7B4AA50-C1BD-4B8D-81B5-D0425F847525}" type="presParOf" srcId="{08DFC445-348D-4C67-9E3D-23F2A09A6771}" destId="{7F381DBB-035D-4FF8-8C28-9A2CACCED55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C52D26-4666-4D1B-837B-0432826DDC9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A20CB68-64E7-4399-BB1D-E4918A102581}">
      <dgm:prSet phldrT="[Texte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Prise de connaissance</a:t>
          </a:r>
        </a:p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Collecte des Informations</a:t>
          </a:r>
          <a:endParaRPr lang="fr-FR" dirty="0"/>
        </a:p>
      </dgm:t>
    </dgm:pt>
    <dgm:pt modelId="{44A97234-C1C8-4CD7-AB65-4B47923B6140}" type="parTrans" cxnId="{D7FC7311-EFCF-4C0D-832A-485C863E2CF7}">
      <dgm:prSet/>
      <dgm:spPr/>
      <dgm:t>
        <a:bodyPr/>
        <a:lstStyle/>
        <a:p>
          <a:endParaRPr lang="fr-FR"/>
        </a:p>
      </dgm:t>
    </dgm:pt>
    <dgm:pt modelId="{FBEE39A2-6860-4D7F-878A-FB11F4EFF8DB}" type="sibTrans" cxnId="{D7FC7311-EFCF-4C0D-832A-485C863E2CF7}">
      <dgm:prSet/>
      <dgm:spPr/>
      <dgm:t>
        <a:bodyPr/>
        <a:lstStyle/>
        <a:p>
          <a:endParaRPr lang="fr-FR"/>
        </a:p>
      </dgm:t>
    </dgm:pt>
    <dgm:pt modelId="{86F5016E-EBDC-4DB8-B1CA-C153A1C3DA4C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Analyse interne des actions et des résultats</a:t>
          </a:r>
          <a:r>
            <a:rPr lang="fr-FR" baseline="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 de l’entreprise</a:t>
          </a:r>
          <a:endParaRPr lang="fr-FR" dirty="0"/>
        </a:p>
      </dgm:t>
    </dgm:pt>
    <dgm:pt modelId="{3077E79E-1B58-4ECE-AAF8-C17083AAC171}" type="parTrans" cxnId="{8B2DABC7-1F96-43EA-9D00-07EF32127DB3}">
      <dgm:prSet/>
      <dgm:spPr/>
      <dgm:t>
        <a:bodyPr/>
        <a:lstStyle/>
        <a:p>
          <a:endParaRPr lang="fr-FR"/>
        </a:p>
      </dgm:t>
    </dgm:pt>
    <dgm:pt modelId="{E096074F-5EED-48E0-A7D6-1BADF505C7F6}" type="sibTrans" cxnId="{8B2DABC7-1F96-43EA-9D00-07EF32127DB3}">
      <dgm:prSet/>
      <dgm:spPr/>
      <dgm:t>
        <a:bodyPr/>
        <a:lstStyle/>
        <a:p>
          <a:endParaRPr lang="fr-FR"/>
        </a:p>
      </dgm:t>
    </dgm:pt>
    <dgm:pt modelId="{E71EE11B-87CD-4504-8BFA-228CBF350098}">
      <dgm:prSet phldrT="[Texte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Analyse externe: Marché, ses évolutions et répartitions </a:t>
          </a:r>
          <a:endParaRPr lang="fr-FR" dirty="0"/>
        </a:p>
      </dgm:t>
    </dgm:pt>
    <dgm:pt modelId="{D6653FA1-419A-4167-9F15-FDA4C270E0AD}" type="parTrans" cxnId="{8540E106-FB37-4511-99F1-8F2BA006A231}">
      <dgm:prSet/>
      <dgm:spPr/>
      <dgm:t>
        <a:bodyPr/>
        <a:lstStyle/>
        <a:p>
          <a:endParaRPr lang="fr-FR"/>
        </a:p>
      </dgm:t>
    </dgm:pt>
    <dgm:pt modelId="{0B98926D-4C3D-4BC7-8AB9-782A43C0DF35}" type="sibTrans" cxnId="{8540E106-FB37-4511-99F1-8F2BA006A231}">
      <dgm:prSet/>
      <dgm:spPr/>
      <dgm:t>
        <a:bodyPr/>
        <a:lstStyle/>
        <a:p>
          <a:endParaRPr lang="fr-FR"/>
        </a:p>
      </dgm:t>
    </dgm:pt>
    <dgm:pt modelId="{E1BAC388-1F52-4DB3-B1A2-EFF4BFB494B0}">
      <dgm:prSet/>
      <dgm:spPr/>
      <dgm:t>
        <a:bodyPr/>
        <a:lstStyle/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Globale</a:t>
          </a:r>
        </a:p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Commerciale</a:t>
          </a:r>
        </a:p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Production</a:t>
          </a:r>
        </a:p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Juridique</a:t>
          </a:r>
        </a:p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des R</a:t>
          </a:r>
          <a:r>
            <a:rPr lang="fr-FR" baseline="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 </a:t>
          </a:r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Humaines</a:t>
          </a:r>
        </a:p>
        <a:p>
          <a:r>
            <a:rPr lang="fr-FR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Comptables et Financiers</a:t>
          </a:r>
        </a:p>
      </dgm:t>
    </dgm:pt>
    <dgm:pt modelId="{E3164526-5A89-41FF-BF61-AFB203CF7155}" type="parTrans" cxnId="{7CB7CCE2-1C0D-47ED-A8C2-07D7A935AF6D}">
      <dgm:prSet/>
      <dgm:spPr/>
      <dgm:t>
        <a:bodyPr/>
        <a:lstStyle/>
        <a:p>
          <a:endParaRPr lang="fr-FR"/>
        </a:p>
      </dgm:t>
    </dgm:pt>
    <dgm:pt modelId="{49D1AE49-50B0-4CB7-9858-C042AABC9A7F}" type="sibTrans" cxnId="{7CB7CCE2-1C0D-47ED-A8C2-07D7A935AF6D}">
      <dgm:prSet/>
      <dgm:spPr/>
      <dgm:t>
        <a:bodyPr/>
        <a:lstStyle/>
        <a:p>
          <a:endParaRPr lang="fr-FR"/>
        </a:p>
      </dgm:t>
    </dgm:pt>
    <dgm:pt modelId="{DC2A8083-AD70-4089-8808-D12C99317A8F}" type="pres">
      <dgm:prSet presAssocID="{8BC52D26-4666-4D1B-837B-0432826DDC91}" presName="Name0" presStyleCnt="0">
        <dgm:presLayoutVars>
          <dgm:dir/>
          <dgm:resizeHandles val="exact"/>
        </dgm:presLayoutVars>
      </dgm:prSet>
      <dgm:spPr/>
    </dgm:pt>
    <dgm:pt modelId="{A86389DB-72E2-4904-9BEE-B877FD484337}" type="pres">
      <dgm:prSet presAssocID="{CA20CB68-64E7-4399-BB1D-E4918A102581}" presName="node" presStyleLbl="node1" presStyleIdx="0" presStyleCnt="4" custLinFactNeighborX="-44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72775A8-66CD-4F28-BEDC-A60604121CAF}" type="pres">
      <dgm:prSet presAssocID="{FBEE39A2-6860-4D7F-878A-FB11F4EFF8DB}" presName="sibTrans" presStyleLbl="sibTrans2D1" presStyleIdx="0" presStyleCnt="3"/>
      <dgm:spPr/>
      <dgm:t>
        <a:bodyPr/>
        <a:lstStyle/>
        <a:p>
          <a:endParaRPr lang="fr-FR"/>
        </a:p>
      </dgm:t>
    </dgm:pt>
    <dgm:pt modelId="{AFDAFEB8-C99D-49D1-8D18-DDE6126BC1F6}" type="pres">
      <dgm:prSet presAssocID="{FBEE39A2-6860-4D7F-878A-FB11F4EFF8DB}" presName="connectorText" presStyleLbl="sibTrans2D1" presStyleIdx="0" presStyleCnt="3"/>
      <dgm:spPr/>
      <dgm:t>
        <a:bodyPr/>
        <a:lstStyle/>
        <a:p>
          <a:endParaRPr lang="fr-FR"/>
        </a:p>
      </dgm:t>
    </dgm:pt>
    <dgm:pt modelId="{F63DE7D4-5FEE-437C-BF32-8372DD4D1932}" type="pres">
      <dgm:prSet presAssocID="{86F5016E-EBDC-4DB8-B1CA-C153A1C3DA4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4ACA324-A750-45D0-AA12-E7CC22474295}" type="pres">
      <dgm:prSet presAssocID="{E096074F-5EED-48E0-A7D6-1BADF505C7F6}" presName="sibTrans" presStyleLbl="sibTrans2D1" presStyleIdx="1" presStyleCnt="3"/>
      <dgm:spPr/>
      <dgm:t>
        <a:bodyPr/>
        <a:lstStyle/>
        <a:p>
          <a:endParaRPr lang="fr-FR"/>
        </a:p>
      </dgm:t>
    </dgm:pt>
    <dgm:pt modelId="{EFBF21AE-55F2-412C-AED9-BF2C5732835E}" type="pres">
      <dgm:prSet presAssocID="{E096074F-5EED-48E0-A7D6-1BADF505C7F6}" presName="connectorText" presStyleLbl="sibTrans2D1" presStyleIdx="1" presStyleCnt="3"/>
      <dgm:spPr/>
      <dgm:t>
        <a:bodyPr/>
        <a:lstStyle/>
        <a:p>
          <a:endParaRPr lang="fr-FR"/>
        </a:p>
      </dgm:t>
    </dgm:pt>
    <dgm:pt modelId="{39C4EEB8-B0D0-4146-846C-8F4FF06AFAE3}" type="pres">
      <dgm:prSet presAssocID="{E71EE11B-87CD-4504-8BFA-228CBF35009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213BC9-3212-4D07-B18D-94F968D8665E}" type="pres">
      <dgm:prSet presAssocID="{0B98926D-4C3D-4BC7-8AB9-782A43C0DF35}" presName="sibTrans" presStyleLbl="sibTrans2D1" presStyleIdx="2" presStyleCnt="3"/>
      <dgm:spPr/>
      <dgm:t>
        <a:bodyPr/>
        <a:lstStyle/>
        <a:p>
          <a:endParaRPr lang="fr-FR"/>
        </a:p>
      </dgm:t>
    </dgm:pt>
    <dgm:pt modelId="{6307F8DA-E839-4B5C-B4F0-918A7F7167F4}" type="pres">
      <dgm:prSet presAssocID="{0B98926D-4C3D-4BC7-8AB9-782A43C0DF35}" presName="connectorText" presStyleLbl="sibTrans2D1" presStyleIdx="2" presStyleCnt="3"/>
      <dgm:spPr/>
      <dgm:t>
        <a:bodyPr/>
        <a:lstStyle/>
        <a:p>
          <a:endParaRPr lang="fr-FR"/>
        </a:p>
      </dgm:t>
    </dgm:pt>
    <dgm:pt modelId="{172100EF-C088-4BA0-803F-F0EF435232FD}" type="pres">
      <dgm:prSet presAssocID="{E1BAC388-1F52-4DB3-B1A2-EFF4BFB494B0}" presName="node" presStyleLbl="node1" presStyleIdx="3" presStyleCnt="4" custScaleX="120711" custLinFactNeighborX="-363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C264AAF-E220-48C8-8FCB-688328177D35}" type="presOf" srcId="{E1BAC388-1F52-4DB3-B1A2-EFF4BFB494B0}" destId="{172100EF-C088-4BA0-803F-F0EF435232FD}" srcOrd="0" destOrd="0" presId="urn:microsoft.com/office/officeart/2005/8/layout/process1"/>
    <dgm:cxn modelId="{1E327A37-7EFC-471D-B5E2-79238A4598AC}" type="presOf" srcId="{CA20CB68-64E7-4399-BB1D-E4918A102581}" destId="{A86389DB-72E2-4904-9BEE-B877FD484337}" srcOrd="0" destOrd="0" presId="urn:microsoft.com/office/officeart/2005/8/layout/process1"/>
    <dgm:cxn modelId="{F8C1014F-82C5-4390-A775-E800D658BB93}" type="presOf" srcId="{8BC52D26-4666-4D1B-837B-0432826DDC91}" destId="{DC2A8083-AD70-4089-8808-D12C99317A8F}" srcOrd="0" destOrd="0" presId="urn:microsoft.com/office/officeart/2005/8/layout/process1"/>
    <dgm:cxn modelId="{7812B0D8-1C63-475C-8EF5-AB3FFFDFFCE1}" type="presOf" srcId="{0B98926D-4C3D-4BC7-8AB9-782A43C0DF35}" destId="{87213BC9-3212-4D07-B18D-94F968D8665E}" srcOrd="0" destOrd="0" presId="urn:microsoft.com/office/officeart/2005/8/layout/process1"/>
    <dgm:cxn modelId="{0117779F-C293-4C64-B0D9-C148FC4BE010}" type="presOf" srcId="{E096074F-5EED-48E0-A7D6-1BADF505C7F6}" destId="{84ACA324-A750-45D0-AA12-E7CC22474295}" srcOrd="0" destOrd="0" presId="urn:microsoft.com/office/officeart/2005/8/layout/process1"/>
    <dgm:cxn modelId="{9E748632-AB47-4C63-8771-341BE9658DCB}" type="presOf" srcId="{E71EE11B-87CD-4504-8BFA-228CBF350098}" destId="{39C4EEB8-B0D0-4146-846C-8F4FF06AFAE3}" srcOrd="0" destOrd="0" presId="urn:microsoft.com/office/officeart/2005/8/layout/process1"/>
    <dgm:cxn modelId="{8540E106-FB37-4511-99F1-8F2BA006A231}" srcId="{8BC52D26-4666-4D1B-837B-0432826DDC91}" destId="{E71EE11B-87CD-4504-8BFA-228CBF350098}" srcOrd="2" destOrd="0" parTransId="{D6653FA1-419A-4167-9F15-FDA4C270E0AD}" sibTransId="{0B98926D-4C3D-4BC7-8AB9-782A43C0DF35}"/>
    <dgm:cxn modelId="{5D5C2C4B-80E8-4D87-BC4F-FAD4F671948C}" type="presOf" srcId="{FBEE39A2-6860-4D7F-878A-FB11F4EFF8DB}" destId="{772775A8-66CD-4F28-BEDC-A60604121CAF}" srcOrd="0" destOrd="0" presId="urn:microsoft.com/office/officeart/2005/8/layout/process1"/>
    <dgm:cxn modelId="{8D3AA362-98A7-4BF2-A416-C2929A5D85F5}" type="presOf" srcId="{0B98926D-4C3D-4BC7-8AB9-782A43C0DF35}" destId="{6307F8DA-E839-4B5C-B4F0-918A7F7167F4}" srcOrd="1" destOrd="0" presId="urn:microsoft.com/office/officeart/2005/8/layout/process1"/>
    <dgm:cxn modelId="{8B2DABC7-1F96-43EA-9D00-07EF32127DB3}" srcId="{8BC52D26-4666-4D1B-837B-0432826DDC91}" destId="{86F5016E-EBDC-4DB8-B1CA-C153A1C3DA4C}" srcOrd="1" destOrd="0" parTransId="{3077E79E-1B58-4ECE-AAF8-C17083AAC171}" sibTransId="{E096074F-5EED-48E0-A7D6-1BADF505C7F6}"/>
    <dgm:cxn modelId="{D7FC7311-EFCF-4C0D-832A-485C863E2CF7}" srcId="{8BC52D26-4666-4D1B-837B-0432826DDC91}" destId="{CA20CB68-64E7-4399-BB1D-E4918A102581}" srcOrd="0" destOrd="0" parTransId="{44A97234-C1C8-4CD7-AB65-4B47923B6140}" sibTransId="{FBEE39A2-6860-4D7F-878A-FB11F4EFF8DB}"/>
    <dgm:cxn modelId="{6FAE5B34-FFFA-44BA-A114-B692B24374D5}" type="presOf" srcId="{86F5016E-EBDC-4DB8-B1CA-C153A1C3DA4C}" destId="{F63DE7D4-5FEE-437C-BF32-8372DD4D1932}" srcOrd="0" destOrd="0" presId="urn:microsoft.com/office/officeart/2005/8/layout/process1"/>
    <dgm:cxn modelId="{7CB7CCE2-1C0D-47ED-A8C2-07D7A935AF6D}" srcId="{8BC52D26-4666-4D1B-837B-0432826DDC91}" destId="{E1BAC388-1F52-4DB3-B1A2-EFF4BFB494B0}" srcOrd="3" destOrd="0" parTransId="{E3164526-5A89-41FF-BF61-AFB203CF7155}" sibTransId="{49D1AE49-50B0-4CB7-9858-C042AABC9A7F}"/>
    <dgm:cxn modelId="{A0F3F424-D993-4212-B819-F046C12A7EC5}" type="presOf" srcId="{FBEE39A2-6860-4D7F-878A-FB11F4EFF8DB}" destId="{AFDAFEB8-C99D-49D1-8D18-DDE6126BC1F6}" srcOrd="1" destOrd="0" presId="urn:microsoft.com/office/officeart/2005/8/layout/process1"/>
    <dgm:cxn modelId="{E006CBAE-5D73-40DE-AB8C-1DD08B5DD2C1}" type="presOf" srcId="{E096074F-5EED-48E0-A7D6-1BADF505C7F6}" destId="{EFBF21AE-55F2-412C-AED9-BF2C5732835E}" srcOrd="1" destOrd="0" presId="urn:microsoft.com/office/officeart/2005/8/layout/process1"/>
    <dgm:cxn modelId="{CFAF3424-840B-43C4-8843-A00969C8B9E2}" type="presParOf" srcId="{DC2A8083-AD70-4089-8808-D12C99317A8F}" destId="{A86389DB-72E2-4904-9BEE-B877FD484337}" srcOrd="0" destOrd="0" presId="urn:microsoft.com/office/officeart/2005/8/layout/process1"/>
    <dgm:cxn modelId="{9E6CF332-7D85-4545-8102-27085ACAF54B}" type="presParOf" srcId="{DC2A8083-AD70-4089-8808-D12C99317A8F}" destId="{772775A8-66CD-4F28-BEDC-A60604121CAF}" srcOrd="1" destOrd="0" presId="urn:microsoft.com/office/officeart/2005/8/layout/process1"/>
    <dgm:cxn modelId="{083F7CC0-D3B7-4432-8416-CFB715F37298}" type="presParOf" srcId="{772775A8-66CD-4F28-BEDC-A60604121CAF}" destId="{AFDAFEB8-C99D-49D1-8D18-DDE6126BC1F6}" srcOrd="0" destOrd="0" presId="urn:microsoft.com/office/officeart/2005/8/layout/process1"/>
    <dgm:cxn modelId="{46B86D0E-D452-4C91-A2D5-2EC873030842}" type="presParOf" srcId="{DC2A8083-AD70-4089-8808-D12C99317A8F}" destId="{F63DE7D4-5FEE-437C-BF32-8372DD4D1932}" srcOrd="2" destOrd="0" presId="urn:microsoft.com/office/officeart/2005/8/layout/process1"/>
    <dgm:cxn modelId="{11DD21C0-B04A-4B84-AF61-1FDB64772E91}" type="presParOf" srcId="{DC2A8083-AD70-4089-8808-D12C99317A8F}" destId="{84ACA324-A750-45D0-AA12-E7CC22474295}" srcOrd="3" destOrd="0" presId="urn:microsoft.com/office/officeart/2005/8/layout/process1"/>
    <dgm:cxn modelId="{E7B3C439-8185-443F-9947-BEBBA1432EF3}" type="presParOf" srcId="{84ACA324-A750-45D0-AA12-E7CC22474295}" destId="{EFBF21AE-55F2-412C-AED9-BF2C5732835E}" srcOrd="0" destOrd="0" presId="urn:microsoft.com/office/officeart/2005/8/layout/process1"/>
    <dgm:cxn modelId="{E8E811D9-0B9E-45D1-B03B-F8FB8E24BA86}" type="presParOf" srcId="{DC2A8083-AD70-4089-8808-D12C99317A8F}" destId="{39C4EEB8-B0D0-4146-846C-8F4FF06AFAE3}" srcOrd="4" destOrd="0" presId="urn:microsoft.com/office/officeart/2005/8/layout/process1"/>
    <dgm:cxn modelId="{F677F794-EE66-4AFC-B143-C93D94F97BBB}" type="presParOf" srcId="{DC2A8083-AD70-4089-8808-D12C99317A8F}" destId="{87213BC9-3212-4D07-B18D-94F968D8665E}" srcOrd="5" destOrd="0" presId="urn:microsoft.com/office/officeart/2005/8/layout/process1"/>
    <dgm:cxn modelId="{B863B52C-487C-4850-87DE-3CC3CF133412}" type="presParOf" srcId="{87213BC9-3212-4D07-B18D-94F968D8665E}" destId="{6307F8DA-E839-4B5C-B4F0-918A7F7167F4}" srcOrd="0" destOrd="0" presId="urn:microsoft.com/office/officeart/2005/8/layout/process1"/>
    <dgm:cxn modelId="{B71DB981-5D53-4121-A802-9EEE709B5BA9}" type="presParOf" srcId="{DC2A8083-AD70-4089-8808-D12C99317A8F}" destId="{172100EF-C088-4BA0-803F-F0EF435232F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982675-067C-40ED-B514-A2BDED8FADB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56D4E58-F06F-4674-B61C-268199D17870}">
      <dgm:prSet phldrT="[Texte]"/>
      <dgm:spPr/>
      <dgm:t>
        <a:bodyPr/>
        <a:lstStyle/>
        <a:p>
          <a:r>
            <a:rPr lang="fr-FR" b="1" dirty="0" smtClean="0">
              <a:latin typeface="Andalus" panose="02020603050405020304" pitchFamily="18" charset="-78"/>
              <a:cs typeface="Andalus" panose="02020603050405020304" pitchFamily="18" charset="-78"/>
            </a:rPr>
            <a:t>Evaluer le marché de l’entreprise </a:t>
          </a:r>
          <a:endParaRPr lang="fr-FR" dirty="0"/>
        </a:p>
      </dgm:t>
    </dgm:pt>
    <dgm:pt modelId="{A274E418-2B52-44EB-9952-164D7A38BB14}" type="parTrans" cxnId="{48C4801C-102D-44C7-B6F2-DE3BBFEEDFF6}">
      <dgm:prSet/>
      <dgm:spPr/>
      <dgm:t>
        <a:bodyPr/>
        <a:lstStyle/>
        <a:p>
          <a:endParaRPr lang="fr-FR"/>
        </a:p>
      </dgm:t>
    </dgm:pt>
    <dgm:pt modelId="{5FA8E530-C977-4F31-B265-C3B738F527DD}" type="sibTrans" cxnId="{48C4801C-102D-44C7-B6F2-DE3BBFEEDFF6}">
      <dgm:prSet/>
      <dgm:spPr/>
      <dgm:t>
        <a:bodyPr/>
        <a:lstStyle/>
        <a:p>
          <a:endParaRPr lang="fr-FR"/>
        </a:p>
      </dgm:t>
    </dgm:pt>
    <dgm:pt modelId="{A056D318-56FC-491C-AB62-20E37BF94A7A}">
      <dgm:prSet phldrT="[Texte]"/>
      <dgm:spPr/>
      <dgm:t>
        <a:bodyPr/>
        <a:lstStyle/>
        <a:p>
          <a:r>
            <a:rPr lang="fr-FR" b="1" dirty="0" smtClean="0">
              <a:latin typeface="Andalus" panose="02020603050405020304" pitchFamily="18" charset="-78"/>
              <a:cs typeface="Andalus" panose="02020603050405020304" pitchFamily="18" charset="-78"/>
            </a:rPr>
            <a:t>Analyser les produits ou services proposés, </a:t>
          </a:r>
        </a:p>
        <a:p>
          <a:endParaRPr lang="fr-FR" dirty="0"/>
        </a:p>
      </dgm:t>
    </dgm:pt>
    <dgm:pt modelId="{9BDD6726-5357-4546-8C66-5F5C25AF95D2}" type="parTrans" cxnId="{FC503D3A-42D2-4208-BB26-7387C5CD9C47}">
      <dgm:prSet/>
      <dgm:spPr/>
      <dgm:t>
        <a:bodyPr/>
        <a:lstStyle/>
        <a:p>
          <a:endParaRPr lang="fr-FR"/>
        </a:p>
      </dgm:t>
    </dgm:pt>
    <dgm:pt modelId="{081C1FF3-2643-4BF6-8C5C-B7F24B8AF345}" type="sibTrans" cxnId="{FC503D3A-42D2-4208-BB26-7387C5CD9C47}">
      <dgm:prSet/>
      <dgm:spPr/>
      <dgm:t>
        <a:bodyPr/>
        <a:lstStyle/>
        <a:p>
          <a:endParaRPr lang="fr-FR"/>
        </a:p>
      </dgm:t>
    </dgm:pt>
    <dgm:pt modelId="{EE892088-78F1-4007-97D2-31A48DB7C195}">
      <dgm:prSet phldrT="[Texte]"/>
      <dgm:spPr/>
      <dgm:t>
        <a:bodyPr/>
        <a:lstStyle/>
        <a:p>
          <a:r>
            <a:rPr lang="fr-FR" b="1" dirty="0" smtClean="0">
              <a:latin typeface="Andalus" panose="02020603050405020304" pitchFamily="18" charset="-78"/>
              <a:cs typeface="Andalus" panose="02020603050405020304" pitchFamily="18" charset="-78"/>
            </a:rPr>
            <a:t>Etudier le chiffre d’affaire ( son évolution, sa répartition par client et par produits sur plusieurs années), </a:t>
          </a:r>
          <a:endParaRPr lang="fr-FR" dirty="0"/>
        </a:p>
      </dgm:t>
    </dgm:pt>
    <dgm:pt modelId="{ECCD492C-0A9B-4F34-8782-297E1B68FF87}" type="parTrans" cxnId="{D6CF6BD1-7C83-45BF-ADB8-0548791FF314}">
      <dgm:prSet/>
      <dgm:spPr/>
      <dgm:t>
        <a:bodyPr/>
        <a:lstStyle/>
        <a:p>
          <a:endParaRPr lang="fr-FR"/>
        </a:p>
      </dgm:t>
    </dgm:pt>
    <dgm:pt modelId="{11423A87-479B-4335-8F75-0EE4385FD47E}" type="sibTrans" cxnId="{D6CF6BD1-7C83-45BF-ADB8-0548791FF314}">
      <dgm:prSet/>
      <dgm:spPr/>
      <dgm:t>
        <a:bodyPr/>
        <a:lstStyle/>
        <a:p>
          <a:endParaRPr lang="fr-FR"/>
        </a:p>
      </dgm:t>
    </dgm:pt>
    <dgm:pt modelId="{C08A4F44-3BAD-438E-BA3F-E3D7566A2DB5}">
      <dgm:prSet phldrT="[Texte]"/>
      <dgm:spPr/>
      <dgm:t>
        <a:bodyPr/>
        <a:lstStyle/>
        <a:p>
          <a:r>
            <a:rPr lang="fr-FR" b="1" dirty="0" smtClean="0">
              <a:latin typeface="Andalus" panose="02020603050405020304" pitchFamily="18" charset="-78"/>
              <a:cs typeface="Andalus" panose="02020603050405020304" pitchFamily="18" charset="-78"/>
            </a:rPr>
            <a:t>Analyser les réseaux de distributions et le forces de ventes</a:t>
          </a:r>
        </a:p>
        <a:p>
          <a:endParaRPr lang="fr-FR" dirty="0"/>
        </a:p>
      </dgm:t>
    </dgm:pt>
    <dgm:pt modelId="{49B1AAEC-3E40-4D13-A48D-3EAF764870AE}" type="parTrans" cxnId="{C7A8FF7E-E32C-421E-99AF-2303F9AE64AE}">
      <dgm:prSet/>
      <dgm:spPr/>
      <dgm:t>
        <a:bodyPr/>
        <a:lstStyle/>
        <a:p>
          <a:endParaRPr lang="fr-FR"/>
        </a:p>
      </dgm:t>
    </dgm:pt>
    <dgm:pt modelId="{EF39EEE7-CC6C-4545-AF99-7CB6EF220D2D}" type="sibTrans" cxnId="{C7A8FF7E-E32C-421E-99AF-2303F9AE64AE}">
      <dgm:prSet/>
      <dgm:spPr/>
      <dgm:t>
        <a:bodyPr/>
        <a:lstStyle/>
        <a:p>
          <a:endParaRPr lang="fr-FR"/>
        </a:p>
      </dgm:t>
    </dgm:pt>
    <dgm:pt modelId="{55A23E86-32E4-41A6-B9DD-304BD006D6FA}">
      <dgm:prSet phldrT="[Texte]"/>
      <dgm:spPr/>
      <dgm:t>
        <a:bodyPr/>
        <a:lstStyle/>
        <a:p>
          <a:r>
            <a:rPr lang="fr-FR" b="1" i="1" dirty="0" smtClean="0"/>
            <a:t>Connaitre  les concurrences</a:t>
          </a:r>
          <a:endParaRPr lang="fr-FR" b="1" i="1" dirty="0"/>
        </a:p>
      </dgm:t>
    </dgm:pt>
    <dgm:pt modelId="{0492E4F2-021E-4688-A519-E631B00FD61A}" type="parTrans" cxnId="{8221FCA7-0C30-4E85-8900-9B5C014580CC}">
      <dgm:prSet/>
      <dgm:spPr/>
      <dgm:t>
        <a:bodyPr/>
        <a:lstStyle/>
        <a:p>
          <a:endParaRPr lang="fr-FR"/>
        </a:p>
      </dgm:t>
    </dgm:pt>
    <dgm:pt modelId="{7D96FC05-B37A-4775-8B0B-87A4841156B9}" type="sibTrans" cxnId="{8221FCA7-0C30-4E85-8900-9B5C014580CC}">
      <dgm:prSet/>
      <dgm:spPr/>
      <dgm:t>
        <a:bodyPr/>
        <a:lstStyle/>
        <a:p>
          <a:endParaRPr lang="fr-FR"/>
        </a:p>
      </dgm:t>
    </dgm:pt>
    <dgm:pt modelId="{5529556D-88C6-41CA-AD1D-090F4C92F417}" type="pres">
      <dgm:prSet presAssocID="{33982675-067C-40ED-B514-A2BDED8FADB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FDF676ED-3CA7-443B-BDE6-4F698FEFBCEF}" type="pres">
      <dgm:prSet presAssocID="{056D4E58-F06F-4674-B61C-268199D1787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723D0FE-24CE-4ECA-AC20-B8116DC84ABE}" type="pres">
      <dgm:prSet presAssocID="{5FA8E530-C977-4F31-B265-C3B738F527DD}" presName="sibTrans" presStyleCnt="0"/>
      <dgm:spPr/>
    </dgm:pt>
    <dgm:pt modelId="{6126D781-0041-472C-B419-5EFDA75F85BD}" type="pres">
      <dgm:prSet presAssocID="{A056D318-56FC-491C-AB62-20E37BF94A7A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4B55070-1DBD-4C13-BAC6-2C5D4E9D33E7}" type="pres">
      <dgm:prSet presAssocID="{081C1FF3-2643-4BF6-8C5C-B7F24B8AF345}" presName="sibTrans" presStyleCnt="0"/>
      <dgm:spPr/>
    </dgm:pt>
    <dgm:pt modelId="{161D3DE7-C9F6-4CFC-8B2F-D6FD11C68618}" type="pres">
      <dgm:prSet presAssocID="{EE892088-78F1-4007-97D2-31A48DB7C19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9FE123D-83B5-447B-9BA5-73841AA334B2}" type="pres">
      <dgm:prSet presAssocID="{11423A87-479B-4335-8F75-0EE4385FD47E}" presName="sibTrans" presStyleCnt="0"/>
      <dgm:spPr/>
    </dgm:pt>
    <dgm:pt modelId="{C9C013DB-23C5-4A35-A43B-82AA863DD8DF}" type="pres">
      <dgm:prSet presAssocID="{C08A4F44-3BAD-438E-BA3F-E3D7566A2DB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C131F01-8C6A-4B28-A5CD-DF9701CE7370}" type="pres">
      <dgm:prSet presAssocID="{EF39EEE7-CC6C-4545-AF99-7CB6EF220D2D}" presName="sibTrans" presStyleCnt="0"/>
      <dgm:spPr/>
    </dgm:pt>
    <dgm:pt modelId="{DB12328E-A402-4D6B-A071-DAD322DDF27C}" type="pres">
      <dgm:prSet presAssocID="{55A23E86-32E4-41A6-B9DD-304BD006D6F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221FCA7-0C30-4E85-8900-9B5C014580CC}" srcId="{33982675-067C-40ED-B514-A2BDED8FADB8}" destId="{55A23E86-32E4-41A6-B9DD-304BD006D6FA}" srcOrd="4" destOrd="0" parTransId="{0492E4F2-021E-4688-A519-E631B00FD61A}" sibTransId="{7D96FC05-B37A-4775-8B0B-87A4841156B9}"/>
    <dgm:cxn modelId="{FC503D3A-42D2-4208-BB26-7387C5CD9C47}" srcId="{33982675-067C-40ED-B514-A2BDED8FADB8}" destId="{A056D318-56FC-491C-AB62-20E37BF94A7A}" srcOrd="1" destOrd="0" parTransId="{9BDD6726-5357-4546-8C66-5F5C25AF95D2}" sibTransId="{081C1FF3-2643-4BF6-8C5C-B7F24B8AF345}"/>
    <dgm:cxn modelId="{E4555D81-43A9-4FE4-ADB7-44D4B5E8FE59}" type="presOf" srcId="{55A23E86-32E4-41A6-B9DD-304BD006D6FA}" destId="{DB12328E-A402-4D6B-A071-DAD322DDF27C}" srcOrd="0" destOrd="0" presId="urn:microsoft.com/office/officeart/2005/8/layout/default"/>
    <dgm:cxn modelId="{E28382DD-90F5-43CF-B464-6BE0EC8D59C7}" type="presOf" srcId="{C08A4F44-3BAD-438E-BA3F-E3D7566A2DB5}" destId="{C9C013DB-23C5-4A35-A43B-82AA863DD8DF}" srcOrd="0" destOrd="0" presId="urn:microsoft.com/office/officeart/2005/8/layout/default"/>
    <dgm:cxn modelId="{4BC8250D-EFFE-4C26-9240-AA54CEE52C50}" type="presOf" srcId="{33982675-067C-40ED-B514-A2BDED8FADB8}" destId="{5529556D-88C6-41CA-AD1D-090F4C92F417}" srcOrd="0" destOrd="0" presId="urn:microsoft.com/office/officeart/2005/8/layout/default"/>
    <dgm:cxn modelId="{D6CF6BD1-7C83-45BF-ADB8-0548791FF314}" srcId="{33982675-067C-40ED-B514-A2BDED8FADB8}" destId="{EE892088-78F1-4007-97D2-31A48DB7C195}" srcOrd="2" destOrd="0" parTransId="{ECCD492C-0A9B-4F34-8782-297E1B68FF87}" sibTransId="{11423A87-479B-4335-8F75-0EE4385FD47E}"/>
    <dgm:cxn modelId="{0F6B2427-D6B9-4721-AE1E-443470339E54}" type="presOf" srcId="{A056D318-56FC-491C-AB62-20E37BF94A7A}" destId="{6126D781-0041-472C-B419-5EFDA75F85BD}" srcOrd="0" destOrd="0" presId="urn:microsoft.com/office/officeart/2005/8/layout/default"/>
    <dgm:cxn modelId="{63D9900F-ABF7-45A9-81A1-A098135911DB}" type="presOf" srcId="{EE892088-78F1-4007-97D2-31A48DB7C195}" destId="{161D3DE7-C9F6-4CFC-8B2F-D6FD11C68618}" srcOrd="0" destOrd="0" presId="urn:microsoft.com/office/officeart/2005/8/layout/default"/>
    <dgm:cxn modelId="{48C4801C-102D-44C7-B6F2-DE3BBFEEDFF6}" srcId="{33982675-067C-40ED-B514-A2BDED8FADB8}" destId="{056D4E58-F06F-4674-B61C-268199D17870}" srcOrd="0" destOrd="0" parTransId="{A274E418-2B52-44EB-9952-164D7A38BB14}" sibTransId="{5FA8E530-C977-4F31-B265-C3B738F527DD}"/>
    <dgm:cxn modelId="{C7A8FF7E-E32C-421E-99AF-2303F9AE64AE}" srcId="{33982675-067C-40ED-B514-A2BDED8FADB8}" destId="{C08A4F44-3BAD-438E-BA3F-E3D7566A2DB5}" srcOrd="3" destOrd="0" parTransId="{49B1AAEC-3E40-4D13-A48D-3EAF764870AE}" sibTransId="{EF39EEE7-CC6C-4545-AF99-7CB6EF220D2D}"/>
    <dgm:cxn modelId="{4441866D-83D8-4737-B0DC-F04F4B08A01F}" type="presOf" srcId="{056D4E58-F06F-4674-B61C-268199D17870}" destId="{FDF676ED-3CA7-443B-BDE6-4F698FEFBCEF}" srcOrd="0" destOrd="0" presId="urn:microsoft.com/office/officeart/2005/8/layout/default"/>
    <dgm:cxn modelId="{FA5ED847-EBB2-418A-B4EB-8B163D4532EA}" type="presParOf" srcId="{5529556D-88C6-41CA-AD1D-090F4C92F417}" destId="{FDF676ED-3CA7-443B-BDE6-4F698FEFBCEF}" srcOrd="0" destOrd="0" presId="urn:microsoft.com/office/officeart/2005/8/layout/default"/>
    <dgm:cxn modelId="{98660EF5-7A32-40D2-BCE3-F024712E1B3D}" type="presParOf" srcId="{5529556D-88C6-41CA-AD1D-090F4C92F417}" destId="{1723D0FE-24CE-4ECA-AC20-B8116DC84ABE}" srcOrd="1" destOrd="0" presId="urn:microsoft.com/office/officeart/2005/8/layout/default"/>
    <dgm:cxn modelId="{4211A6A0-4C4A-41F5-B8D4-9320D8BBF7F5}" type="presParOf" srcId="{5529556D-88C6-41CA-AD1D-090F4C92F417}" destId="{6126D781-0041-472C-B419-5EFDA75F85BD}" srcOrd="2" destOrd="0" presId="urn:microsoft.com/office/officeart/2005/8/layout/default"/>
    <dgm:cxn modelId="{4C2A357C-5968-45EC-AA2E-BD95D16D1F03}" type="presParOf" srcId="{5529556D-88C6-41CA-AD1D-090F4C92F417}" destId="{A4B55070-1DBD-4C13-BAC6-2C5D4E9D33E7}" srcOrd="3" destOrd="0" presId="urn:microsoft.com/office/officeart/2005/8/layout/default"/>
    <dgm:cxn modelId="{A5A83C1B-B2D5-419A-AF65-AEE3B690E59D}" type="presParOf" srcId="{5529556D-88C6-41CA-AD1D-090F4C92F417}" destId="{161D3DE7-C9F6-4CFC-8B2F-D6FD11C68618}" srcOrd="4" destOrd="0" presId="urn:microsoft.com/office/officeart/2005/8/layout/default"/>
    <dgm:cxn modelId="{C9349394-06C9-4B97-BE0E-02F2634D57F7}" type="presParOf" srcId="{5529556D-88C6-41CA-AD1D-090F4C92F417}" destId="{B9FE123D-83B5-447B-9BA5-73841AA334B2}" srcOrd="5" destOrd="0" presId="urn:microsoft.com/office/officeart/2005/8/layout/default"/>
    <dgm:cxn modelId="{C5D420EE-7511-4FEF-9889-96E463EA33DB}" type="presParOf" srcId="{5529556D-88C6-41CA-AD1D-090F4C92F417}" destId="{C9C013DB-23C5-4A35-A43B-82AA863DD8DF}" srcOrd="6" destOrd="0" presId="urn:microsoft.com/office/officeart/2005/8/layout/default"/>
    <dgm:cxn modelId="{3A0F8C64-903C-4265-B58E-8294B3A58899}" type="presParOf" srcId="{5529556D-88C6-41CA-AD1D-090F4C92F417}" destId="{4C131F01-8C6A-4B28-A5CD-DF9701CE7370}" srcOrd="7" destOrd="0" presId="urn:microsoft.com/office/officeart/2005/8/layout/default"/>
    <dgm:cxn modelId="{E07D9CB4-D9BF-444A-90BE-F6B137F095D5}" type="presParOf" srcId="{5529556D-88C6-41CA-AD1D-090F4C92F417}" destId="{DB12328E-A402-4D6B-A071-DAD322DDF27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D387E3-8DA1-4723-9E44-F0C55CDBC555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40379CD-E3A4-455B-A15C-27B3F92C90CD}">
      <dgm:prSet phldrT="[Texte]" custT="1"/>
      <dgm:spPr/>
      <dgm:t>
        <a:bodyPr/>
        <a:lstStyle/>
        <a:p>
          <a:r>
            <a:rPr lang="fr-FR" sz="2400" b="1" dirty="0" smtClean="0">
              <a:latin typeface="Andalus" panose="02020603050405020304" pitchFamily="18" charset="-78"/>
              <a:cs typeface="Andalus" panose="02020603050405020304" pitchFamily="18" charset="-78"/>
            </a:rPr>
            <a:t>Contrôler si l’entreprise est enregistré au RCS</a:t>
          </a:r>
          <a:endParaRPr lang="fr-FR" sz="2400" dirty="0"/>
        </a:p>
      </dgm:t>
    </dgm:pt>
    <dgm:pt modelId="{ED77C74C-C683-4478-90D5-DCC062C83745}" type="parTrans" cxnId="{73AE18A4-7E7A-4CB9-8A01-8E444684160B}">
      <dgm:prSet/>
      <dgm:spPr/>
      <dgm:t>
        <a:bodyPr/>
        <a:lstStyle/>
        <a:p>
          <a:endParaRPr lang="fr-FR"/>
        </a:p>
      </dgm:t>
    </dgm:pt>
    <dgm:pt modelId="{53222061-65DC-4471-86C9-87AA00D6EA2E}" type="sibTrans" cxnId="{73AE18A4-7E7A-4CB9-8A01-8E444684160B}">
      <dgm:prSet/>
      <dgm:spPr/>
      <dgm:t>
        <a:bodyPr/>
        <a:lstStyle/>
        <a:p>
          <a:endParaRPr lang="fr-FR"/>
        </a:p>
      </dgm:t>
    </dgm:pt>
    <dgm:pt modelId="{69900B1B-D143-4AF1-86BF-55473B9718CD}">
      <dgm:prSet phldrT="[Texte]" custT="1"/>
      <dgm:spPr/>
      <dgm:t>
        <a:bodyPr/>
        <a:lstStyle/>
        <a:p>
          <a:r>
            <a:rPr lang="fr-FR" sz="2400" b="1" dirty="0" smtClean="0">
              <a:latin typeface="Andalus" panose="02020603050405020304" pitchFamily="18" charset="-78"/>
              <a:cs typeface="Andalus" panose="02020603050405020304" pitchFamily="18" charset="-78"/>
            </a:rPr>
            <a:t>Contrôler les statuts de l’entreprise</a:t>
          </a:r>
          <a:endParaRPr lang="fr-FR" sz="2400" dirty="0"/>
        </a:p>
      </dgm:t>
    </dgm:pt>
    <dgm:pt modelId="{59932D4C-76BF-4388-BF68-0E8681E16568}" type="parTrans" cxnId="{AFF76625-7759-4316-A0A8-36F1A7DD37D4}">
      <dgm:prSet/>
      <dgm:spPr/>
      <dgm:t>
        <a:bodyPr/>
        <a:lstStyle/>
        <a:p>
          <a:endParaRPr lang="fr-FR"/>
        </a:p>
      </dgm:t>
    </dgm:pt>
    <dgm:pt modelId="{9764A543-CD76-4FDE-9513-4D658338A270}" type="sibTrans" cxnId="{AFF76625-7759-4316-A0A8-36F1A7DD37D4}">
      <dgm:prSet/>
      <dgm:spPr/>
      <dgm:t>
        <a:bodyPr/>
        <a:lstStyle/>
        <a:p>
          <a:endParaRPr lang="fr-FR"/>
        </a:p>
      </dgm:t>
    </dgm:pt>
    <dgm:pt modelId="{FD34B801-37CD-4FB9-93E3-9AE1D4C05266}">
      <dgm:prSet phldrT="[Texte]" custT="1"/>
      <dgm:spPr/>
      <dgm:t>
        <a:bodyPr/>
        <a:lstStyle/>
        <a:p>
          <a:r>
            <a:rPr lang="fr-FR" sz="2000" b="1" dirty="0" smtClean="0"/>
            <a:t>Responsabilité sociale des entreprises </a:t>
          </a:r>
          <a:endParaRPr lang="fr-FR" sz="2000" b="1" dirty="0"/>
        </a:p>
      </dgm:t>
    </dgm:pt>
    <dgm:pt modelId="{E1447981-8DCC-4C57-8696-DA8D5047DC54}" type="parTrans" cxnId="{BB4F765E-F8DD-4419-995B-CB1FA89F5D5F}">
      <dgm:prSet/>
      <dgm:spPr/>
      <dgm:t>
        <a:bodyPr/>
        <a:lstStyle/>
        <a:p>
          <a:endParaRPr lang="fr-FR"/>
        </a:p>
      </dgm:t>
    </dgm:pt>
    <dgm:pt modelId="{AA5D7423-F859-4873-A61F-FA3B47639BFF}" type="sibTrans" cxnId="{BB4F765E-F8DD-4419-995B-CB1FA89F5D5F}">
      <dgm:prSet/>
      <dgm:spPr/>
      <dgm:t>
        <a:bodyPr/>
        <a:lstStyle/>
        <a:p>
          <a:endParaRPr lang="fr-FR"/>
        </a:p>
      </dgm:t>
    </dgm:pt>
    <dgm:pt modelId="{A9329FBC-CF4E-4FB5-8083-3212EBA094A9}" type="pres">
      <dgm:prSet presAssocID="{00D387E3-8DA1-4723-9E44-F0C55CDBC555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77D8B856-3D49-45CB-AC70-41FA153F5368}" type="pres">
      <dgm:prSet presAssocID="{140379CD-E3A4-455B-A15C-27B3F92C90CD}" presName="Accent1" presStyleCnt="0"/>
      <dgm:spPr/>
    </dgm:pt>
    <dgm:pt modelId="{DBD204E2-B474-4C85-8CDF-9B49D9A19EB7}" type="pres">
      <dgm:prSet presAssocID="{140379CD-E3A4-455B-A15C-27B3F92C90CD}" presName="Accent" presStyleLbl="node1" presStyleIdx="0" presStyleCnt="3"/>
      <dgm:spPr/>
    </dgm:pt>
    <dgm:pt modelId="{2B610E4B-A45B-4665-9A59-C2029299075D}" type="pres">
      <dgm:prSet presAssocID="{140379CD-E3A4-455B-A15C-27B3F92C90CD}" presName="Parent1" presStyleLbl="revTx" presStyleIdx="0" presStyleCnt="3" custScaleX="54095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0778787-FAA6-4F52-BBBC-7AFF2CC2B41F}" type="pres">
      <dgm:prSet presAssocID="{69900B1B-D143-4AF1-86BF-55473B9718CD}" presName="Accent2" presStyleCnt="0"/>
      <dgm:spPr/>
    </dgm:pt>
    <dgm:pt modelId="{A85D7FE4-418B-40B0-9B10-BA46DD7E06D5}" type="pres">
      <dgm:prSet presAssocID="{69900B1B-D143-4AF1-86BF-55473B9718CD}" presName="Accent" presStyleLbl="node1" presStyleIdx="1" presStyleCnt="3"/>
      <dgm:spPr/>
    </dgm:pt>
    <dgm:pt modelId="{D440089A-DA63-4D25-8149-2C058CFD6B42}" type="pres">
      <dgm:prSet presAssocID="{69900B1B-D143-4AF1-86BF-55473B9718CD}" presName="Parent2" presStyleLbl="revTx" presStyleIdx="1" presStyleCnt="3" custScaleX="773492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9FB0EE1-5463-4878-AEAF-2058EF739EAD}" type="pres">
      <dgm:prSet presAssocID="{FD34B801-37CD-4FB9-93E3-9AE1D4C05266}" presName="Accent3" presStyleCnt="0"/>
      <dgm:spPr/>
    </dgm:pt>
    <dgm:pt modelId="{7FDF6EBC-24B0-4AE5-BBE9-4D70DAEDBE8F}" type="pres">
      <dgm:prSet presAssocID="{FD34B801-37CD-4FB9-93E3-9AE1D4C05266}" presName="Accent" presStyleLbl="node1" presStyleIdx="2" presStyleCnt="3"/>
      <dgm:spPr/>
    </dgm:pt>
    <dgm:pt modelId="{1216B0D8-ABDC-4C1B-9AD7-AFE8440A921B}" type="pres">
      <dgm:prSet presAssocID="{FD34B801-37CD-4FB9-93E3-9AE1D4C05266}" presName="Parent3" presStyleLbl="revTx" presStyleIdx="2" presStyleCnt="3" custScaleX="30746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B4F765E-F8DD-4419-995B-CB1FA89F5D5F}" srcId="{00D387E3-8DA1-4723-9E44-F0C55CDBC555}" destId="{FD34B801-37CD-4FB9-93E3-9AE1D4C05266}" srcOrd="2" destOrd="0" parTransId="{E1447981-8DCC-4C57-8696-DA8D5047DC54}" sibTransId="{AA5D7423-F859-4873-A61F-FA3B47639BFF}"/>
    <dgm:cxn modelId="{4F431249-DBB7-4270-8D2B-6887C0A22B12}" type="presOf" srcId="{FD34B801-37CD-4FB9-93E3-9AE1D4C05266}" destId="{1216B0D8-ABDC-4C1B-9AD7-AFE8440A921B}" srcOrd="0" destOrd="0" presId="urn:microsoft.com/office/officeart/2009/layout/CircleArrowProcess"/>
    <dgm:cxn modelId="{73AE18A4-7E7A-4CB9-8A01-8E444684160B}" srcId="{00D387E3-8DA1-4723-9E44-F0C55CDBC555}" destId="{140379CD-E3A4-455B-A15C-27B3F92C90CD}" srcOrd="0" destOrd="0" parTransId="{ED77C74C-C683-4478-90D5-DCC062C83745}" sibTransId="{53222061-65DC-4471-86C9-87AA00D6EA2E}"/>
    <dgm:cxn modelId="{D629F3A4-A4C6-41B1-B742-941057548B15}" type="presOf" srcId="{00D387E3-8DA1-4723-9E44-F0C55CDBC555}" destId="{A9329FBC-CF4E-4FB5-8083-3212EBA094A9}" srcOrd="0" destOrd="0" presId="urn:microsoft.com/office/officeart/2009/layout/CircleArrowProcess"/>
    <dgm:cxn modelId="{AFF76625-7759-4316-A0A8-36F1A7DD37D4}" srcId="{00D387E3-8DA1-4723-9E44-F0C55CDBC555}" destId="{69900B1B-D143-4AF1-86BF-55473B9718CD}" srcOrd="1" destOrd="0" parTransId="{59932D4C-76BF-4388-BF68-0E8681E16568}" sibTransId="{9764A543-CD76-4FDE-9513-4D658338A270}"/>
    <dgm:cxn modelId="{51A7F750-8FDA-4141-BB91-1E75FE7D5B78}" type="presOf" srcId="{69900B1B-D143-4AF1-86BF-55473B9718CD}" destId="{D440089A-DA63-4D25-8149-2C058CFD6B42}" srcOrd="0" destOrd="0" presId="urn:microsoft.com/office/officeart/2009/layout/CircleArrowProcess"/>
    <dgm:cxn modelId="{CD777568-9F6F-4DE2-BC4E-99159D38FFBB}" type="presOf" srcId="{140379CD-E3A4-455B-A15C-27B3F92C90CD}" destId="{2B610E4B-A45B-4665-9A59-C2029299075D}" srcOrd="0" destOrd="0" presId="urn:microsoft.com/office/officeart/2009/layout/CircleArrowProcess"/>
    <dgm:cxn modelId="{2820ADCC-B1BF-408B-A85C-AA9C721E7684}" type="presParOf" srcId="{A9329FBC-CF4E-4FB5-8083-3212EBA094A9}" destId="{77D8B856-3D49-45CB-AC70-41FA153F5368}" srcOrd="0" destOrd="0" presId="urn:microsoft.com/office/officeart/2009/layout/CircleArrowProcess"/>
    <dgm:cxn modelId="{5300648F-9E72-48BB-847A-750B5063E7C0}" type="presParOf" srcId="{77D8B856-3D49-45CB-AC70-41FA153F5368}" destId="{DBD204E2-B474-4C85-8CDF-9B49D9A19EB7}" srcOrd="0" destOrd="0" presId="urn:microsoft.com/office/officeart/2009/layout/CircleArrowProcess"/>
    <dgm:cxn modelId="{6F000E18-C53A-47D1-AD4F-5EC21F055FB3}" type="presParOf" srcId="{A9329FBC-CF4E-4FB5-8083-3212EBA094A9}" destId="{2B610E4B-A45B-4665-9A59-C2029299075D}" srcOrd="1" destOrd="0" presId="urn:microsoft.com/office/officeart/2009/layout/CircleArrowProcess"/>
    <dgm:cxn modelId="{B5BCBE3E-259C-4FA3-880A-9D98B0ADC0D8}" type="presParOf" srcId="{A9329FBC-CF4E-4FB5-8083-3212EBA094A9}" destId="{B0778787-FAA6-4F52-BBBC-7AFF2CC2B41F}" srcOrd="2" destOrd="0" presId="urn:microsoft.com/office/officeart/2009/layout/CircleArrowProcess"/>
    <dgm:cxn modelId="{84D16D25-CACA-47C7-AF3C-EFCB8E4D628B}" type="presParOf" srcId="{B0778787-FAA6-4F52-BBBC-7AFF2CC2B41F}" destId="{A85D7FE4-418B-40B0-9B10-BA46DD7E06D5}" srcOrd="0" destOrd="0" presId="urn:microsoft.com/office/officeart/2009/layout/CircleArrowProcess"/>
    <dgm:cxn modelId="{F2DC0DB3-52B7-4EE2-BED8-D5D28F5A8E38}" type="presParOf" srcId="{A9329FBC-CF4E-4FB5-8083-3212EBA094A9}" destId="{D440089A-DA63-4D25-8149-2C058CFD6B42}" srcOrd="3" destOrd="0" presId="urn:microsoft.com/office/officeart/2009/layout/CircleArrowProcess"/>
    <dgm:cxn modelId="{3695B3C8-F95D-40CF-8B07-FD45B046D2C1}" type="presParOf" srcId="{A9329FBC-CF4E-4FB5-8083-3212EBA094A9}" destId="{F9FB0EE1-5463-4878-AEAF-2058EF739EAD}" srcOrd="4" destOrd="0" presId="urn:microsoft.com/office/officeart/2009/layout/CircleArrowProcess"/>
    <dgm:cxn modelId="{FC4F971E-63BF-4554-9FF8-FFD5E21C26F6}" type="presParOf" srcId="{F9FB0EE1-5463-4878-AEAF-2058EF739EAD}" destId="{7FDF6EBC-24B0-4AE5-BBE9-4D70DAEDBE8F}" srcOrd="0" destOrd="0" presId="urn:microsoft.com/office/officeart/2009/layout/CircleArrowProcess"/>
    <dgm:cxn modelId="{48AC2A1C-A94B-4E4E-A480-A04D6F87AE83}" type="presParOf" srcId="{A9329FBC-CF4E-4FB5-8083-3212EBA094A9}" destId="{1216B0D8-ABDC-4C1B-9AD7-AFE8440A921B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51990-F7DC-41AC-B9C5-EC48D8205E0B}">
      <dsp:nvSpPr>
        <dsp:cNvPr id="0" name=""/>
        <dsp:cNvSpPr/>
      </dsp:nvSpPr>
      <dsp:spPr>
        <a:xfrm>
          <a:off x="1412782" y="1785"/>
          <a:ext cx="2903599" cy="17421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Viabilité de l’entreprise</a:t>
          </a:r>
          <a:endParaRPr lang="fr-FR" sz="3200" kern="1200" dirty="0"/>
        </a:p>
      </dsp:txBody>
      <dsp:txXfrm>
        <a:off x="1412782" y="1785"/>
        <a:ext cx="2903599" cy="1742159"/>
      </dsp:txXfrm>
    </dsp:sp>
    <dsp:sp modelId="{2C4DE359-9319-458F-8798-9CC1F7D716BA}">
      <dsp:nvSpPr>
        <dsp:cNvPr id="0" name=""/>
        <dsp:cNvSpPr/>
      </dsp:nvSpPr>
      <dsp:spPr>
        <a:xfrm>
          <a:off x="4602879" y="1785"/>
          <a:ext cx="2903599" cy="17421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Compétitivité de l’entreprise</a:t>
          </a:r>
          <a:endParaRPr lang="fr-FR" sz="3200" kern="1200" dirty="0"/>
        </a:p>
      </dsp:txBody>
      <dsp:txXfrm>
        <a:off x="4602879" y="1785"/>
        <a:ext cx="2903599" cy="1742159"/>
      </dsp:txXfrm>
    </dsp:sp>
    <dsp:sp modelId="{227456A6-6EE8-412C-A866-F947D635BD2E}">
      <dsp:nvSpPr>
        <dsp:cNvPr id="0" name=""/>
        <dsp:cNvSpPr/>
      </dsp:nvSpPr>
      <dsp:spPr>
        <a:xfrm>
          <a:off x="1408920" y="2034304"/>
          <a:ext cx="2903599" cy="17421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Potentialité du développement de l’entreprise</a:t>
          </a:r>
          <a:endParaRPr lang="fr-FR" sz="3200" kern="1200" dirty="0"/>
        </a:p>
      </dsp:txBody>
      <dsp:txXfrm>
        <a:off x="1408920" y="2034304"/>
        <a:ext cx="2903599" cy="1742159"/>
      </dsp:txXfrm>
    </dsp:sp>
    <dsp:sp modelId="{7F381DBB-035D-4FF8-8C28-9A2CACCED55E}">
      <dsp:nvSpPr>
        <dsp:cNvPr id="0" name=""/>
        <dsp:cNvSpPr/>
      </dsp:nvSpPr>
      <dsp:spPr>
        <a:xfrm>
          <a:off x="4602879" y="2034304"/>
          <a:ext cx="2903599" cy="17421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err="1" smtClean="0">
              <a:solidFill>
                <a:schemeClr val="tx1"/>
              </a:solidFill>
            </a:rPr>
            <a:t>Maitriser</a:t>
          </a:r>
          <a:r>
            <a:rPr lang="en-US" sz="3200" b="1" kern="1200" dirty="0" smtClean="0">
              <a:solidFill>
                <a:schemeClr val="tx1"/>
              </a:solidFill>
            </a:rPr>
            <a:t> les </a:t>
          </a:r>
          <a:r>
            <a:rPr lang="en-US" sz="3200" b="1" kern="1200" dirty="0" err="1" smtClean="0">
              <a:solidFill>
                <a:schemeClr val="tx1"/>
              </a:solidFill>
            </a:rPr>
            <a:t>risques</a:t>
          </a:r>
          <a:endParaRPr lang="fr-FR" sz="3200" b="1" kern="1200" dirty="0">
            <a:solidFill>
              <a:schemeClr val="tx1"/>
            </a:solidFill>
          </a:endParaRPr>
        </a:p>
      </dsp:txBody>
      <dsp:txXfrm>
        <a:off x="4602879" y="2034304"/>
        <a:ext cx="2903599" cy="17421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389DB-72E2-4904-9BEE-B877FD484337}">
      <dsp:nvSpPr>
        <dsp:cNvPr id="0" name=""/>
        <dsp:cNvSpPr/>
      </dsp:nvSpPr>
      <dsp:spPr>
        <a:xfrm>
          <a:off x="202" y="390840"/>
          <a:ext cx="1997712" cy="2996568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Prise de connaissance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Collecte des Informations</a:t>
          </a:r>
          <a:endParaRPr lang="fr-FR" sz="1300" kern="1200" dirty="0"/>
        </a:p>
      </dsp:txBody>
      <dsp:txXfrm>
        <a:off x="58713" y="449351"/>
        <a:ext cx="1880690" cy="2879546"/>
      </dsp:txXfrm>
    </dsp:sp>
    <dsp:sp modelId="{772775A8-66CD-4F28-BEDC-A60604121CAF}">
      <dsp:nvSpPr>
        <dsp:cNvPr id="0" name=""/>
        <dsp:cNvSpPr/>
      </dsp:nvSpPr>
      <dsp:spPr>
        <a:xfrm>
          <a:off x="2198564" y="1641408"/>
          <a:ext cx="425378" cy="495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>
        <a:off x="2198564" y="1740494"/>
        <a:ext cx="297765" cy="297260"/>
      </dsp:txXfrm>
    </dsp:sp>
    <dsp:sp modelId="{F63DE7D4-5FEE-437C-BF32-8372DD4D1932}">
      <dsp:nvSpPr>
        <dsp:cNvPr id="0" name=""/>
        <dsp:cNvSpPr/>
      </dsp:nvSpPr>
      <dsp:spPr>
        <a:xfrm>
          <a:off x="2800515" y="390840"/>
          <a:ext cx="1997712" cy="2996568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Analyse interne des actions et des résultats</a:t>
          </a:r>
          <a:r>
            <a:rPr lang="fr-FR" sz="1300" kern="1200" baseline="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 de l’entreprise</a:t>
          </a:r>
          <a:endParaRPr lang="fr-FR" sz="1300" kern="1200" dirty="0"/>
        </a:p>
      </dsp:txBody>
      <dsp:txXfrm>
        <a:off x="2859026" y="449351"/>
        <a:ext cx="1880690" cy="2879546"/>
      </dsp:txXfrm>
    </dsp:sp>
    <dsp:sp modelId="{84ACA324-A750-45D0-AA12-E7CC22474295}">
      <dsp:nvSpPr>
        <dsp:cNvPr id="0" name=""/>
        <dsp:cNvSpPr/>
      </dsp:nvSpPr>
      <dsp:spPr>
        <a:xfrm>
          <a:off x="4997999" y="1641408"/>
          <a:ext cx="423515" cy="495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>
        <a:off x="4997999" y="1740494"/>
        <a:ext cx="296461" cy="297260"/>
      </dsp:txXfrm>
    </dsp:sp>
    <dsp:sp modelId="{39C4EEB8-B0D0-4146-846C-8F4FF06AFAE3}">
      <dsp:nvSpPr>
        <dsp:cNvPr id="0" name=""/>
        <dsp:cNvSpPr/>
      </dsp:nvSpPr>
      <dsp:spPr>
        <a:xfrm>
          <a:off x="5597313" y="390840"/>
          <a:ext cx="1997712" cy="2996568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Analyse externe: Marché, ses évolutions et répartitions </a:t>
          </a:r>
          <a:endParaRPr lang="fr-FR" sz="1300" kern="1200" dirty="0"/>
        </a:p>
      </dsp:txBody>
      <dsp:txXfrm>
        <a:off x="5655824" y="449351"/>
        <a:ext cx="1880690" cy="2879546"/>
      </dsp:txXfrm>
    </dsp:sp>
    <dsp:sp modelId="{87213BC9-3212-4D07-B18D-94F968D8665E}">
      <dsp:nvSpPr>
        <dsp:cNvPr id="0" name=""/>
        <dsp:cNvSpPr/>
      </dsp:nvSpPr>
      <dsp:spPr>
        <a:xfrm>
          <a:off x="7787535" y="1641408"/>
          <a:ext cx="408120" cy="495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>
        <a:off x="7787535" y="1740494"/>
        <a:ext cx="285684" cy="297260"/>
      </dsp:txXfrm>
    </dsp:sp>
    <dsp:sp modelId="{172100EF-C088-4BA0-803F-F0EF435232FD}">
      <dsp:nvSpPr>
        <dsp:cNvPr id="0" name=""/>
        <dsp:cNvSpPr/>
      </dsp:nvSpPr>
      <dsp:spPr>
        <a:xfrm>
          <a:off x="8365064" y="390840"/>
          <a:ext cx="2411458" cy="2996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Globale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Commerciale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Production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Juridique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des R</a:t>
          </a:r>
          <a:r>
            <a:rPr lang="fr-FR" sz="1300" kern="1200" baseline="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 </a:t>
          </a: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Humaines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 smtClean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rPr>
            <a:t>Diagnostique Comptables et Financiers</a:t>
          </a:r>
        </a:p>
      </dsp:txBody>
      <dsp:txXfrm>
        <a:off x="8435693" y="461469"/>
        <a:ext cx="2270200" cy="2855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676ED-3CA7-443B-BDE6-4F698FEFBCEF}">
      <dsp:nvSpPr>
        <dsp:cNvPr id="0" name=""/>
        <dsp:cNvSpPr/>
      </dsp:nvSpPr>
      <dsp:spPr>
        <a:xfrm>
          <a:off x="0" y="78184"/>
          <a:ext cx="2786062" cy="16716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Andalus" panose="02020603050405020304" pitchFamily="18" charset="-78"/>
              <a:cs typeface="Andalus" panose="02020603050405020304" pitchFamily="18" charset="-78"/>
            </a:rPr>
            <a:t>Evaluer le marché de l’entreprise </a:t>
          </a:r>
          <a:endParaRPr lang="fr-FR" sz="1800" kern="1200" dirty="0"/>
        </a:p>
      </dsp:txBody>
      <dsp:txXfrm>
        <a:off x="0" y="78184"/>
        <a:ext cx="2786062" cy="1671637"/>
      </dsp:txXfrm>
    </dsp:sp>
    <dsp:sp modelId="{6126D781-0041-472C-B419-5EFDA75F85BD}">
      <dsp:nvSpPr>
        <dsp:cNvPr id="0" name=""/>
        <dsp:cNvSpPr/>
      </dsp:nvSpPr>
      <dsp:spPr>
        <a:xfrm>
          <a:off x="3064668" y="78184"/>
          <a:ext cx="2786062" cy="16716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Andalus" panose="02020603050405020304" pitchFamily="18" charset="-78"/>
              <a:cs typeface="Andalus" panose="02020603050405020304" pitchFamily="18" charset="-78"/>
            </a:rPr>
            <a:t>Analyser les produits ou services proposés,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 dirty="0"/>
        </a:p>
      </dsp:txBody>
      <dsp:txXfrm>
        <a:off x="3064668" y="78184"/>
        <a:ext cx="2786062" cy="1671637"/>
      </dsp:txXfrm>
    </dsp:sp>
    <dsp:sp modelId="{161D3DE7-C9F6-4CFC-8B2F-D6FD11C68618}">
      <dsp:nvSpPr>
        <dsp:cNvPr id="0" name=""/>
        <dsp:cNvSpPr/>
      </dsp:nvSpPr>
      <dsp:spPr>
        <a:xfrm>
          <a:off x="6129337" y="78184"/>
          <a:ext cx="2786062" cy="16716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Andalus" panose="02020603050405020304" pitchFamily="18" charset="-78"/>
              <a:cs typeface="Andalus" panose="02020603050405020304" pitchFamily="18" charset="-78"/>
            </a:rPr>
            <a:t>Etudier le chiffre d’affaire ( son évolution, sa répartition par client et par produits sur plusieurs années), </a:t>
          </a:r>
          <a:endParaRPr lang="fr-FR" sz="1800" kern="1200" dirty="0"/>
        </a:p>
      </dsp:txBody>
      <dsp:txXfrm>
        <a:off x="6129337" y="78184"/>
        <a:ext cx="2786062" cy="1671637"/>
      </dsp:txXfrm>
    </dsp:sp>
    <dsp:sp modelId="{C9C013DB-23C5-4A35-A43B-82AA863DD8DF}">
      <dsp:nvSpPr>
        <dsp:cNvPr id="0" name=""/>
        <dsp:cNvSpPr/>
      </dsp:nvSpPr>
      <dsp:spPr>
        <a:xfrm>
          <a:off x="1532334" y="2028428"/>
          <a:ext cx="2786062" cy="16716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Andalus" panose="02020603050405020304" pitchFamily="18" charset="-78"/>
              <a:cs typeface="Andalus" panose="02020603050405020304" pitchFamily="18" charset="-78"/>
            </a:rPr>
            <a:t>Analyser les réseaux de distributions et le forces de ventes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 dirty="0"/>
        </a:p>
      </dsp:txBody>
      <dsp:txXfrm>
        <a:off x="1532334" y="2028428"/>
        <a:ext cx="2786062" cy="1671637"/>
      </dsp:txXfrm>
    </dsp:sp>
    <dsp:sp modelId="{DB12328E-A402-4D6B-A071-DAD322DDF27C}">
      <dsp:nvSpPr>
        <dsp:cNvPr id="0" name=""/>
        <dsp:cNvSpPr/>
      </dsp:nvSpPr>
      <dsp:spPr>
        <a:xfrm>
          <a:off x="4597003" y="2028428"/>
          <a:ext cx="2786062" cy="16716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i="1" kern="1200" dirty="0" smtClean="0"/>
            <a:t>Connaitre  les concurrences</a:t>
          </a:r>
          <a:endParaRPr lang="fr-FR" sz="1800" b="1" i="1" kern="1200" dirty="0"/>
        </a:p>
      </dsp:txBody>
      <dsp:txXfrm>
        <a:off x="4597003" y="2028428"/>
        <a:ext cx="2786062" cy="16716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204E2-B474-4C85-8CDF-9B49D9A19EB7}">
      <dsp:nvSpPr>
        <dsp:cNvPr id="0" name=""/>
        <dsp:cNvSpPr/>
      </dsp:nvSpPr>
      <dsp:spPr>
        <a:xfrm>
          <a:off x="4053515" y="0"/>
          <a:ext cx="1818572" cy="181884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10E4B-A45B-4665-9A59-C2029299075D}">
      <dsp:nvSpPr>
        <dsp:cNvPr id="0" name=""/>
        <dsp:cNvSpPr/>
      </dsp:nvSpPr>
      <dsp:spPr>
        <a:xfrm>
          <a:off x="2227438" y="656659"/>
          <a:ext cx="5466628" cy="505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b="1" kern="1200" dirty="0" smtClean="0">
              <a:latin typeface="Andalus" panose="02020603050405020304" pitchFamily="18" charset="-78"/>
              <a:cs typeface="Andalus" panose="02020603050405020304" pitchFamily="18" charset="-78"/>
            </a:rPr>
            <a:t>Contrôler si l’entreprise est enregistré au RCS</a:t>
          </a:r>
          <a:endParaRPr lang="fr-FR" sz="2400" kern="1200" dirty="0"/>
        </a:p>
      </dsp:txBody>
      <dsp:txXfrm>
        <a:off x="2227438" y="656659"/>
        <a:ext cx="5466628" cy="505152"/>
      </dsp:txXfrm>
    </dsp:sp>
    <dsp:sp modelId="{A85D7FE4-418B-40B0-9B10-BA46DD7E06D5}">
      <dsp:nvSpPr>
        <dsp:cNvPr id="0" name=""/>
        <dsp:cNvSpPr/>
      </dsp:nvSpPr>
      <dsp:spPr>
        <a:xfrm>
          <a:off x="3548413" y="1045063"/>
          <a:ext cx="1818572" cy="181884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0089A-DA63-4D25-8149-2C058CFD6B42}">
      <dsp:nvSpPr>
        <dsp:cNvPr id="0" name=""/>
        <dsp:cNvSpPr/>
      </dsp:nvSpPr>
      <dsp:spPr>
        <a:xfrm>
          <a:off x="549454" y="1707769"/>
          <a:ext cx="7816491" cy="505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b="1" kern="1200" dirty="0" smtClean="0">
              <a:latin typeface="Andalus" panose="02020603050405020304" pitchFamily="18" charset="-78"/>
              <a:cs typeface="Andalus" panose="02020603050405020304" pitchFamily="18" charset="-78"/>
            </a:rPr>
            <a:t>Contrôler les statuts de l’entreprise</a:t>
          </a:r>
          <a:endParaRPr lang="fr-FR" sz="2400" kern="1200" dirty="0"/>
        </a:p>
      </dsp:txBody>
      <dsp:txXfrm>
        <a:off x="549454" y="1707769"/>
        <a:ext cx="7816491" cy="505152"/>
      </dsp:txXfrm>
    </dsp:sp>
    <dsp:sp modelId="{7FDF6EBC-24B0-4AE5-BBE9-4D70DAEDBE8F}">
      <dsp:nvSpPr>
        <dsp:cNvPr id="0" name=""/>
        <dsp:cNvSpPr/>
      </dsp:nvSpPr>
      <dsp:spPr>
        <a:xfrm>
          <a:off x="4182950" y="2215187"/>
          <a:ext cx="1562435" cy="156306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6B0D8-ABDC-4C1B-9AD7-AFE8440A921B}">
      <dsp:nvSpPr>
        <dsp:cNvPr id="0" name=""/>
        <dsp:cNvSpPr/>
      </dsp:nvSpPr>
      <dsp:spPr>
        <a:xfrm>
          <a:off x="3409596" y="2760389"/>
          <a:ext cx="3107095" cy="505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1" kern="1200" dirty="0" smtClean="0"/>
            <a:t>Responsabilité sociale des entreprises </a:t>
          </a:r>
          <a:endParaRPr lang="fr-FR" sz="2000" b="1" kern="1200" dirty="0"/>
        </a:p>
      </dsp:txBody>
      <dsp:txXfrm>
        <a:off x="3409596" y="2760389"/>
        <a:ext cx="3107095" cy="505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DIAGNOSTIQUE DE L’ENTREPRISE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RAMIARAMANANA RAVOARIMEFA</a:t>
            </a:r>
          </a:p>
          <a:p>
            <a:r>
              <a:rPr lang="en-US" dirty="0" smtClean="0"/>
              <a:t>FORMATEUR ONIFRA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602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ETUDE THEORIQUE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DIAGNOSTIQUE </a:t>
            </a:r>
            <a:r>
              <a:rPr lang="en-US" dirty="0" smtClean="0"/>
              <a:t>DE L’ENTREPRISE</a:t>
            </a:r>
          </a:p>
          <a:p>
            <a:pPr algn="just"/>
            <a:r>
              <a:rPr lang="en-US" dirty="0" smtClean="0"/>
              <a:t>ETUDE DE LA VULNERABILITE DE L’ENTRIPRISE</a:t>
            </a:r>
          </a:p>
          <a:p>
            <a:pPr algn="just"/>
            <a:r>
              <a:rPr lang="en-US" dirty="0" smtClean="0"/>
              <a:t>DIAGNOSTIQUE STRATEGIQUE DE L’ENTREPRISE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890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RAPPEL FONCTION PRINCIPALE DE L’ENTREPRISE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ClrTx/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 de </a:t>
            </a:r>
            <a:r>
              <a:rPr lang="fr-F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endParaRPr lang="fr-FR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Tx/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 de recherche et de distribution</a:t>
            </a:r>
          </a:p>
          <a:p>
            <a:pPr marL="285750" indent="-285750" algn="just">
              <a:buClrTx/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 de marketing et de vente</a:t>
            </a:r>
          </a:p>
          <a:p>
            <a:pPr marL="285750" indent="-285750" algn="just">
              <a:buClrTx/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 l’ administration et finance</a:t>
            </a:r>
          </a:p>
          <a:p>
            <a:pPr marL="285750" indent="-285750" algn="just">
              <a:buClrTx/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 </a:t>
            </a:r>
            <a:r>
              <a:rPr lang="fr-F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 </a:t>
            </a:r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ressource </a:t>
            </a:r>
            <a:r>
              <a:rPr lang="fr-FR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humaines</a:t>
            </a:r>
            <a:endParaRPr lang="fr-FR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043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DIGNOSTIQUE DE L’ENTREPRISE</a:t>
            </a:r>
            <a:br>
              <a:rPr lang="en-US" b="1" dirty="0"/>
            </a:b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200000"/>
              </a:lnSpc>
              <a:buNone/>
            </a:pPr>
            <a:r>
              <a:rPr lang="fr-FR" dirty="0" smtClean="0"/>
              <a:t>          Le </a:t>
            </a:r>
            <a:r>
              <a:rPr lang="fr-FR" dirty="0"/>
              <a:t>DGE peut être défini comme étant </a:t>
            </a:r>
            <a:r>
              <a:rPr lang="fr-FR" dirty="0">
                <a:solidFill>
                  <a:schemeClr val="accent1"/>
                </a:solidFill>
              </a:rPr>
              <a:t>une analyse approfondit </a:t>
            </a:r>
            <a:r>
              <a:rPr lang="fr-FR" dirty="0"/>
              <a:t>englobant ces différentes </a:t>
            </a:r>
            <a:r>
              <a:rPr lang="fr-FR" i="1" dirty="0"/>
              <a:t>fonctions</a:t>
            </a:r>
            <a:r>
              <a:rPr lang="fr-FR" dirty="0"/>
              <a:t> et </a:t>
            </a:r>
            <a:r>
              <a:rPr lang="fr-FR" i="1" dirty="0"/>
              <a:t>organisations </a:t>
            </a:r>
            <a:r>
              <a:rPr lang="fr-FR" dirty="0"/>
              <a:t>afin d’apprécier ces </a:t>
            </a:r>
            <a:r>
              <a:rPr lang="fr-FR" dirty="0">
                <a:solidFill>
                  <a:schemeClr val="accent1"/>
                </a:solidFill>
              </a:rPr>
              <a:t>performances passées et présente</a:t>
            </a:r>
            <a:r>
              <a:rPr lang="fr-FR" dirty="0"/>
              <a:t>s et de proposer des </a:t>
            </a:r>
            <a:r>
              <a:rPr lang="fr-FR" dirty="0" smtClean="0">
                <a:solidFill>
                  <a:schemeClr val="accent1"/>
                </a:solidFill>
              </a:rPr>
              <a:t>améliorations.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dirty="0" smtClean="0">
                <a:solidFill>
                  <a:schemeClr val="accent1"/>
                </a:solidFill>
              </a:rPr>
              <a:t>MOTS CLES : analyses, </a:t>
            </a:r>
            <a:r>
              <a:rPr lang="en-US" dirty="0" err="1" smtClean="0">
                <a:solidFill>
                  <a:schemeClr val="accent1"/>
                </a:solidFill>
              </a:rPr>
              <a:t>fonctions</a:t>
            </a:r>
            <a:r>
              <a:rPr lang="en-US" dirty="0" smtClean="0">
                <a:solidFill>
                  <a:schemeClr val="accent1"/>
                </a:solidFill>
              </a:rPr>
              <a:t>, </a:t>
            </a:r>
            <a:r>
              <a:rPr lang="en-US" dirty="0" err="1" smtClean="0">
                <a:solidFill>
                  <a:schemeClr val="accent1"/>
                </a:solidFill>
              </a:rPr>
              <a:t>organisations</a:t>
            </a:r>
            <a:r>
              <a:rPr lang="en-US" dirty="0" smtClean="0">
                <a:solidFill>
                  <a:schemeClr val="accent1"/>
                </a:solidFill>
              </a:rPr>
              <a:t>, performance</a:t>
            </a:r>
            <a:endParaRPr lang="fr-FR" dirty="0">
              <a:solidFill>
                <a:schemeClr val="accent1"/>
              </a:solidFill>
            </a:endParaRPr>
          </a:p>
          <a:p>
            <a:pPr marL="0" indent="0" algn="just">
              <a:lnSpc>
                <a:spcPct val="200000"/>
              </a:lnSpc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530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OBJECTIF - DEFIS</a:t>
            </a:r>
            <a:endParaRPr lang="fr-FR" b="1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6134293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86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 AUTRES OBJECTIF </a:t>
            </a:r>
            <a:r>
              <a:rPr lang="en-US" b="1" dirty="0"/>
              <a:t>- DEFIS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fr-FR" b="1" dirty="0" smtClean="0"/>
              <a:t>- Anticiper </a:t>
            </a:r>
            <a:r>
              <a:rPr lang="fr-FR" b="1" dirty="0"/>
              <a:t>et connaitre les besoins de l’entreprise (pour analyser les besoins futurs de l’entreprise)</a:t>
            </a:r>
            <a:br>
              <a:rPr lang="fr-FR" b="1" dirty="0"/>
            </a:br>
            <a:r>
              <a:rPr lang="fr-FR" b="1" dirty="0" smtClean="0"/>
              <a:t>- Prendre </a:t>
            </a:r>
            <a:r>
              <a:rPr lang="fr-FR" b="1" dirty="0"/>
              <a:t>les décisions stratégiques permettant d’assurer la pérennité de l’entreprise</a:t>
            </a:r>
            <a:br>
              <a:rPr lang="fr-FR" b="1" dirty="0"/>
            </a:br>
            <a:r>
              <a:rPr lang="fr-FR" b="1" dirty="0" smtClean="0"/>
              <a:t>-Résoudre </a:t>
            </a:r>
            <a:r>
              <a:rPr lang="fr-FR" b="1" dirty="0"/>
              <a:t>les problèmes</a:t>
            </a:r>
            <a:br>
              <a:rPr lang="fr-FR" b="1" dirty="0"/>
            </a:br>
            <a:r>
              <a:rPr lang="fr-FR" b="1" dirty="0" smtClean="0"/>
              <a:t>- Evaluer </a:t>
            </a:r>
            <a:r>
              <a:rPr lang="fr-FR" b="1" dirty="0"/>
              <a:t>les performances des différentes fonctions</a:t>
            </a:r>
          </a:p>
        </p:txBody>
      </p:sp>
    </p:spTree>
    <p:extLst>
      <p:ext uri="{BB962C8B-B14F-4D97-AF65-F5344CB8AC3E}">
        <p14:creationId xmlns:p14="http://schemas.microsoft.com/office/powerpoint/2010/main" val="767767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ETAPES DU DGE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234493"/>
              </p:ext>
            </p:extLst>
          </p:nvPr>
        </p:nvGraphicFramePr>
        <p:xfrm>
          <a:off x="481012" y="2197100"/>
          <a:ext cx="10809288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675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/>
            <a:r>
              <a:rPr lang="fr-FR" b="1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Prise de connaissance</a:t>
            </a:r>
            <a:br>
              <a:rPr lang="fr-FR" b="1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fr-FR" b="1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Collecte des Informations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Naissance de </a:t>
            </a:r>
            <a:r>
              <a:rPr lang="en-US" dirty="0" err="1" smtClean="0"/>
              <a:t>l’entreprise</a:t>
            </a:r>
            <a:endParaRPr lang="en-US" dirty="0" smtClean="0"/>
          </a:p>
          <a:p>
            <a:r>
              <a:rPr lang="en-US" dirty="0" err="1" smtClean="0"/>
              <a:t>Taille</a:t>
            </a:r>
            <a:endParaRPr lang="en-US" dirty="0" smtClean="0"/>
          </a:p>
          <a:p>
            <a:r>
              <a:rPr lang="en-US" dirty="0" err="1" smtClean="0"/>
              <a:t>Activite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METHODOLOGIE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INTERVIEW</a:t>
            </a:r>
          </a:p>
          <a:p>
            <a:pPr marL="0" indent="0">
              <a:buNone/>
            </a:pPr>
            <a:r>
              <a:rPr lang="en-US" dirty="0" smtClean="0"/>
              <a:t>ENTRETIEN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813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b="1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Analyse interne des actions et des résultats de l’entreprise</a:t>
            </a:r>
            <a:r>
              <a:rPr lang="fr-FR" b="1" dirty="0"/>
              <a:t/>
            </a:r>
            <a:br>
              <a:rPr lang="fr-FR" b="1" dirty="0"/>
            </a:b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Analyse</a:t>
            </a:r>
            <a:r>
              <a:rPr lang="en-US" dirty="0" smtClean="0"/>
              <a:t> au </a:t>
            </a:r>
            <a:r>
              <a:rPr lang="en-US" dirty="0" err="1" smtClean="0"/>
              <a:t>niveau</a:t>
            </a:r>
            <a:r>
              <a:rPr lang="en-US" dirty="0" smtClean="0"/>
              <a:t> interne de </a:t>
            </a:r>
            <a:r>
              <a:rPr lang="en-US" dirty="0" err="1" smtClean="0"/>
              <a:t>l’entreprise</a:t>
            </a:r>
            <a:endParaRPr lang="en-US" dirty="0" smtClean="0"/>
          </a:p>
          <a:p>
            <a:r>
              <a:rPr lang="en-US" dirty="0" smtClean="0"/>
              <a:t>Forces et </a:t>
            </a:r>
            <a:r>
              <a:rPr lang="en-US" dirty="0" err="1" smtClean="0"/>
              <a:t>faiblesses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/>
              <a:t>METHODOLOGIE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INTERVIEW</a:t>
            </a:r>
          </a:p>
          <a:p>
            <a:pPr marL="0" indent="0">
              <a:buNone/>
            </a:pPr>
            <a:r>
              <a:rPr lang="en-US" dirty="0"/>
              <a:t>ENTRETIEN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614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/>
            <a:r>
              <a:rPr lang="fr-FR" b="1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Analyse externe: Marché, ses évolutions et répartitions </a:t>
            </a:r>
            <a:r>
              <a:rPr lang="fr-FR" b="1" dirty="0"/>
              <a:t/>
            </a:r>
            <a:br>
              <a:rPr lang="fr-FR" b="1" dirty="0"/>
            </a:b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Etudes </a:t>
            </a:r>
            <a:r>
              <a:rPr lang="en-US" dirty="0" err="1" smtClean="0"/>
              <a:t>externes</a:t>
            </a:r>
            <a:endParaRPr lang="en-US" dirty="0" smtClean="0"/>
          </a:p>
          <a:p>
            <a:r>
              <a:rPr lang="en-US" dirty="0" smtClean="0"/>
              <a:t>Etudes </a:t>
            </a:r>
            <a:r>
              <a:rPr lang="en-US" dirty="0" err="1" smtClean="0"/>
              <a:t>opportunités</a:t>
            </a:r>
            <a:r>
              <a:rPr lang="en-US" dirty="0" smtClean="0"/>
              <a:t> et </a:t>
            </a:r>
            <a:r>
              <a:rPr lang="en-US" dirty="0" err="1" smtClean="0"/>
              <a:t>ménances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METHODOLOGIE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INTERVIEW</a:t>
            </a:r>
          </a:p>
          <a:p>
            <a:pPr marL="0" indent="0">
              <a:buNone/>
            </a:pPr>
            <a:r>
              <a:rPr lang="en-US" dirty="0"/>
              <a:t>ENTRETIEN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991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Diagnostic  commercial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767760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807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latin typeface="Andalus" panose="02020603050405020304" pitchFamily="18" charset="-78"/>
                <a:cs typeface="Andalus" panose="02020603050405020304" pitchFamily="18" charset="-78"/>
              </a:rPr>
              <a:t>Diagnostique</a:t>
            </a:r>
            <a:r>
              <a:rPr lang="fr-FR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fr-FR" b="1" dirty="0">
                <a:latin typeface="Andalus" panose="02020603050405020304" pitchFamily="18" charset="-78"/>
                <a:cs typeface="Andalus" panose="02020603050405020304" pitchFamily="18" charset="-78"/>
              </a:rPr>
              <a:t>Juridique</a:t>
            </a:r>
            <a:br>
              <a:rPr lang="fr-FR" b="1" dirty="0">
                <a:latin typeface="Andalus" panose="02020603050405020304" pitchFamily="18" charset="-78"/>
                <a:cs typeface="Andalus" panose="02020603050405020304" pitchFamily="18" charset="-78"/>
              </a:rPr>
            </a:b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298058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920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latin typeface="Andalus" panose="02020603050405020304" pitchFamily="18" charset="-78"/>
                <a:cs typeface="Andalus" panose="02020603050405020304" pitchFamily="18" charset="-78"/>
              </a:rPr>
              <a:t>Diagnostique</a:t>
            </a:r>
            <a:r>
              <a:rPr lang="fr-FR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fr-FR" b="1" dirty="0">
                <a:latin typeface="Andalus" panose="02020603050405020304" pitchFamily="18" charset="-78"/>
                <a:cs typeface="Andalus" panose="02020603050405020304" pitchFamily="18" charset="-78"/>
              </a:rPr>
              <a:t>Financier</a:t>
            </a:r>
            <a:br>
              <a:rPr lang="fr-FR" b="1" dirty="0">
                <a:latin typeface="Andalus" panose="02020603050405020304" pitchFamily="18" charset="-78"/>
                <a:cs typeface="Andalus" panose="02020603050405020304" pitchFamily="18" charset="-78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Equilibre de la trésorerie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Equilibre de la structure financier et de capitaux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Equilibre de l’exploitation ou dans la croissance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Equilibre coût rendement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1053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latin typeface="Andalus" panose="02020603050405020304" pitchFamily="18" charset="-78"/>
                <a:cs typeface="Andalus" panose="02020603050405020304" pitchFamily="18" charset="-78"/>
              </a:rPr>
              <a:t>Diagnostique</a:t>
            </a:r>
            <a:r>
              <a:rPr lang="fr-FR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fr-FR" b="1" dirty="0">
                <a:latin typeface="Andalus" panose="02020603050405020304" pitchFamily="18" charset="-78"/>
                <a:cs typeface="Andalus" panose="02020603050405020304" pitchFamily="18" charset="-78"/>
              </a:rPr>
              <a:t>Marketing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fr-FR" sz="3200" dirty="0"/>
              <a:t>Site internet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fr-FR" sz="3200" dirty="0"/>
              <a:t>Personnel de vente et de marketing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fr-FR" sz="3200" dirty="0"/>
              <a:t>Stratégies de communications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701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fr-FR" b="1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Diagnostique des </a:t>
            </a:r>
            <a:r>
              <a:rPr lang="fr-FR" b="1" dirty="0" smtClean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Ressources </a:t>
            </a:r>
            <a:r>
              <a:rPr lang="fr-FR" b="1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Humaines</a:t>
            </a:r>
            <a:r>
              <a:rPr lang="fr-FR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/>
            </a:r>
            <a:br>
              <a:rPr lang="fr-FR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r>
              <a:rPr lang="fr-FR" dirty="0" smtClean="0"/>
              <a:t>Motivation du personnel</a:t>
            </a:r>
          </a:p>
          <a:p>
            <a:r>
              <a:rPr lang="fr-FR" dirty="0" smtClean="0"/>
              <a:t>Productivité</a:t>
            </a:r>
          </a:p>
          <a:p>
            <a:r>
              <a:rPr lang="fr-FR" dirty="0" smtClean="0"/>
              <a:t>Esprit d’équipe</a:t>
            </a:r>
          </a:p>
          <a:p>
            <a:r>
              <a:rPr lang="fr-FR" dirty="0" smtClean="0"/>
              <a:t>Conflit d’intérêt</a:t>
            </a:r>
          </a:p>
          <a:p>
            <a:pPr marL="0" indent="0">
              <a:buNone/>
            </a:pPr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3925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          TRAVAUX DIRIGES</a:t>
            </a:r>
            <a:endParaRPr lang="fr-FR" sz="4400" b="1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Choisissez une entreprise de votre choix </a:t>
            </a:r>
          </a:p>
          <a:p>
            <a:pPr marL="0" indent="0">
              <a:buNone/>
            </a:pPr>
            <a:r>
              <a:rPr lang="fr-FR" dirty="0" smtClean="0"/>
              <a:t>Vous êtes convié(e) de :</a:t>
            </a:r>
          </a:p>
          <a:p>
            <a:r>
              <a:rPr lang="fr-FR" dirty="0" smtClean="0"/>
              <a:t> faire une conception d’un plan de diagnostic de cette entreprise</a:t>
            </a:r>
          </a:p>
          <a:p>
            <a:r>
              <a:rPr lang="fr-FR" dirty="0" smtClean="0"/>
              <a:t>Préparer de guide d’entretien pour collecter des informations interne et externe selon les critères de diagnostique globale </a:t>
            </a:r>
            <a:r>
              <a:rPr lang="fr-FR" smtClean="0"/>
              <a:t>de l’entreprise</a:t>
            </a:r>
            <a:endParaRPr lang="fr-FR" dirty="0" smtClean="0"/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293585375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</TotalTime>
  <Words>422</Words>
  <Application>Microsoft Office PowerPoint</Application>
  <PresentationFormat>Grand écran</PresentationFormat>
  <Paragraphs>88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Andalus</vt:lpstr>
      <vt:lpstr>Arial</vt:lpstr>
      <vt:lpstr>Batang</vt:lpstr>
      <vt:lpstr>Century Gothic</vt:lpstr>
      <vt:lpstr>Times New Roman</vt:lpstr>
      <vt:lpstr>Wingdings</vt:lpstr>
      <vt:lpstr>Wingdings 3</vt:lpstr>
      <vt:lpstr>Brin</vt:lpstr>
      <vt:lpstr>DIAGNOSTIQUE DE L’ENTREPRISE</vt:lpstr>
      <vt:lpstr>ETUDE THEORIQUE</vt:lpstr>
      <vt:lpstr>RAPPEL FONCTION PRINCIPALE DE L’ENTREPRISE</vt:lpstr>
      <vt:lpstr>DIGNOSTIQUE DE L’ENTREPRISE </vt:lpstr>
      <vt:lpstr>OBJECTIF - DEFIS</vt:lpstr>
      <vt:lpstr> AUTRES OBJECTIF - DEFIS</vt:lpstr>
      <vt:lpstr>ETAPES DU DGE</vt:lpstr>
      <vt:lpstr>Prise de connaissance Collecte des Informations </vt:lpstr>
      <vt:lpstr>Analyse interne des actions et des résultats de l’entreprise </vt:lpstr>
      <vt:lpstr>Analyse externe: Marché, ses évolutions et répartitions  </vt:lpstr>
      <vt:lpstr>Diagnostic  commercial  </vt:lpstr>
      <vt:lpstr>Diagnostique Juridique </vt:lpstr>
      <vt:lpstr>Diagnostique Financier </vt:lpstr>
      <vt:lpstr>Diagnostique Marketing</vt:lpstr>
      <vt:lpstr>Diagnostique des Ressources Humaines </vt:lpstr>
      <vt:lpstr>                       TRAVAUX DIRIGES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DIAGNOSTIQUE DE L’ENTREPRISE</dc:title>
  <dc:creator>RAVO</dc:creator>
  <cp:lastModifiedBy>Randriambololona Nivo</cp:lastModifiedBy>
  <cp:revision>10</cp:revision>
  <dcterms:created xsi:type="dcterms:W3CDTF">2024-04-18T19:05:43Z</dcterms:created>
  <dcterms:modified xsi:type="dcterms:W3CDTF">2024-04-22T13:07:27Z</dcterms:modified>
</cp:coreProperties>
</file>